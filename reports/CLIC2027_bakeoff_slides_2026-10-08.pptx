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3212E"/>
                </a:solidFill>
                <a:latin typeface="Be Vietnam Pro"/>
              </a:rPr>
              <a:t>Q̂ v0 trung bình trên 30 ảnh (cao hơn = người chấm thích hơn)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VTM 4:2:0</c:v>
                </c:pt>
              </c:strCache>
            </c:strRef>
          </c:tx>
          <c:spPr>
            <a:solidFill>
              <a:srgbClr val="8FA6BA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12E"/>
                    </a:solidFill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-2.515</c:v>
                </c:pt>
                <c:pt idx="1">
                  <c:v>-1.163</c:v>
                </c:pt>
                <c:pt idx="2">
                  <c:v>-0.152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MS-ILLM</c:v>
                </c:pt>
              </c:strCache>
            </c:strRef>
          </c:tx>
          <c:spPr>
            <a:solidFill>
              <a:srgbClr val="2F6FA3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12E"/>
                    </a:solidFill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-0.451</c:v>
                </c:pt>
                <c:pt idx="1">
                  <c:v>0.544</c:v>
                </c:pt>
                <c:pt idx="2">
                  <c:v>1.383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mbt2018 (MSE)</c:v>
                </c:pt>
              </c:strCache>
            </c:strRef>
          </c:tx>
          <c:spPr>
            <a:solidFill>
              <a:srgbClr val="C9C2B3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12E"/>
                    </a:solidFill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-2.082</c:v>
                </c:pt>
                <c:pt idx="2">
                  <c:v>-0.634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MS-ILLM + SD-Turbo</c:v>
                </c:pt>
              </c:strCache>
            </c:strRef>
          </c:tx>
          <c:spPr>
            <a:solidFill>
              <a:srgbClr val="A9471A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12E"/>
                    </a:solidFill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-1.609</c:v>
                </c:pt>
                <c:pt idx="1">
                  <c:v>-1.331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E4E1DA"/>
            </a:solidFill>
          </a:ln>
        </c:spPr>
        <c:txPr>
          <a:bodyPr/>
          <a:lstStyle/>
          <a:p>
            <a:pPr>
              <a:defRPr sz="900">
                <a:solidFill>
                  <a:srgbClr val="13212E"/>
                </a:solidFill>
                <a:latin typeface="Be Vietnam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1D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B6573"/>
                </a:solidFill>
                <a:latin typeface="Be Vietnam Pr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3212E"/>
              </a:solidFill>
              <a:latin typeface="Be Vietnam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3212E"/>
                </a:solidFill>
                <a:latin typeface="Be Vietnam Pro"/>
              </a:rPr>
              <a:t>Q̂ trên 4 ảnh màn hình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MS-ILLM cho mọi ảnh</c:v>
                </c:pt>
              </c:strCache>
            </c:strRef>
          </c:tx>
          <c:spPr>
            <a:solidFill>
              <a:srgbClr val="8FA6BA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800"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1.208</c:v>
                </c:pt>
                <c:pt idx="1">
                  <c:v>1.866</c:v>
                </c:pt>
                <c:pt idx="2">
                  <c:v>2.439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mix (MS-ILLM + VTM-SCC + S1)</c:v>
                </c:pt>
              </c:strCache>
            </c:strRef>
          </c:tx>
          <c:spPr>
            <a:solidFill>
              <a:srgbClr val="2F6FA3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800">
                    <a:latin typeface="Be Vietnam Pr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0.075 bpp</c:v>
                </c:pt>
                <c:pt idx="1">
                  <c:v>0.15 bpp</c:v>
                </c:pt>
                <c:pt idx="2">
                  <c:v>0.3 bpp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1.348</c:v>
                </c:pt>
                <c:pt idx="1">
                  <c:v>2.259</c:v>
                </c:pt>
                <c:pt idx="2">
                  <c:v>2.651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1DA"/>
            </a:solidFill>
          </a:ln>
        </c:spPr>
        <c:txPr>
          <a:bodyPr/>
          <a:lstStyle/>
          <a:p>
            <a:pPr>
              <a:defRPr sz="900">
                <a:latin typeface="Be Vietnam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1D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Be Vietnam Pr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Be Vietnam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ứng viên được phân bổ bit theo Q̂ dưới cùng ngân sách byte cả bộ 30 ảnh. Chênh 1.0 Q̂ ≈ odds 2.7 lần người chấm chọn. VTM có PSNR cao hơn nhưng LPIPS/DISTS kém 3–4 lần, khớp với Elo 2025 (VTM 1405 so với Vcoder 1929).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840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471A"/>
                </a:solidFill>
                <a:latin typeface="Be Vietnam Pro"/>
              </a:rPr>
              <a:t>6 · BAKE-OFF (08/10)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3212E"/>
                </a:solidFill>
                <a:latin typeface="Be Vietnam Pro"/>
              </a:rPr>
              <a:t>MS-ILLM dẫn đầu ở cả 3 mức bitrate</a:t>
            </a:r>
          </a:p>
        </p:txBody>
      </p:sp>
      <p:graphicFrame>
        <p:nvGraphicFramePr>
          <p:cNvPr id="4" name="Q-hat chart"/>
          <p:cNvGraphicFramePr>
            <a:graphicFrameLocks noGrp="1"/>
          </p:cNvGraphicFramePr>
          <p:nvPr/>
        </p:nvGraphicFramePr>
        <p:xfrm>
          <a:off x="548640" y="1143000"/>
          <a:ext cx="53949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llout 1"/>
          <p:cNvSpPr/>
          <p:nvPr/>
        </p:nvSpPr>
        <p:spPr>
          <a:xfrm>
            <a:off x="6172200" y="114300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216152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6FA3"/>
                </a:solidFill>
                <a:latin typeface="JetBrains Mono"/>
              </a:rPr>
              <a:t>+2.1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184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3212E"/>
                </a:solidFill>
                <a:latin typeface="Be Vietnam Pro"/>
              </a:rPr>
              <a:t>Q̂ hơn VTM ở 0.075 bpp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Be Vietnam Pro"/>
              </a:rPr>
              <a:t>LPIPS 0.094 so với 0.296; PSNR thấp hơn 0.9 dB</a:t>
            </a:r>
          </a:p>
        </p:txBody>
      </p:sp>
      <p:sp>
        <p:nvSpPr>
          <p:cNvPr id="9" name="Callout 2"/>
          <p:cNvSpPr/>
          <p:nvPr/>
        </p:nvSpPr>
        <p:spPr>
          <a:xfrm>
            <a:off x="6172200" y="233172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404872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6FA3"/>
                </a:solidFill>
                <a:latin typeface="JetBrains Mono"/>
              </a:rPr>
              <a:t>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072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3212E"/>
                </a:solidFill>
                <a:latin typeface="Be Vietnam Pro"/>
              </a:rPr>
              <a:t>Q̂ ở 0.3 bpp, cao nhất bảng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Be Vietnam Pro"/>
              </a:rPr>
              <a:t>VTM chỉ −0.15 dù PSNR cao hơn 2.2 dB</a:t>
            </a:r>
          </a:p>
        </p:txBody>
      </p:sp>
      <p:sp>
        <p:nvSpPr>
          <p:cNvPr id="13" name="Callout 3"/>
          <p:cNvSpPr/>
          <p:nvPr/>
        </p:nvSpPr>
        <p:spPr>
          <a:xfrm>
            <a:off x="6172200" y="352044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593592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9471A"/>
                </a:solidFill>
                <a:latin typeface="JetBrains Mono"/>
              </a:rPr>
              <a:t>2.0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9959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3212E"/>
                </a:solidFill>
                <a:latin typeface="Be Vietnam Pro"/>
              </a:rPr>
              <a:t>giải mã 1 ảnh trên T4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Be Vietnam Pro"/>
              </a:rPr>
              <a:t>≈ 60 s cho 30 ảnh; mục tiêu ≤ 20 s trên L4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548640" y="464515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Be Vietnam Pro"/>
              </a:rPr>
              <a:t>Nguồn: gộp session A, B, c, d, e (results/2026-10-0{6,8}_*); phân bổ knapsack theo Q̂ dưới ngân sách cả bộ ảnh. mbt không đạt 0.075; refiner không đạt 0.3.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840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471A"/>
                </a:solidFill>
                <a:latin typeface="Be Vietnam Pro"/>
              </a:rPr>
              <a:t>6 · BAKE-OFF (08/10)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3212E"/>
                </a:solidFill>
                <a:latin typeface="Be Vietnam Pro"/>
              </a:rPr>
              <a:t>Bảng đầy đủ: PSNR cao không có nghĩa là thắng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143000"/>
          <a:ext cx="8046720" cy="303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00200"/>
                <a:gridCol w="731520"/>
                <a:gridCol w="822960"/>
                <a:gridCol w="777240"/>
                <a:gridCol w="731520"/>
                <a:gridCol w="731520"/>
                <a:gridCol w="685800"/>
                <a:gridCol w="1463040"/>
              </a:tblGrid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Mức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Ứng viên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bpp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PSNR (dB)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MS-SSIM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LPIPS↓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DISTS↓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Q̂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Giải mã T4 (s)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0.075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VTM 4:2:0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0.0749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26.01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0.296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0.178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−2.52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MS-ILLM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0.0749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25.15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0.094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0.094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−0.45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1.95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MS-ILLM + SD-Turbo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0.0749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22.22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0.842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0.197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0.149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−1.61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11.13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mix (chọn theo ảnh)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0.0749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23.62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0.096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0.093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−0.41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2.20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VTM 4:2:0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0.1498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28.29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0.214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0.135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−1.16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MS-ILLM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0.1499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27.16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0.058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0.061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0.54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1.98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mbt2018 (MSE)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0.1499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27.52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0.261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0.168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−2.08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0.76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mix (chọn theo ảnh)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0.1497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26.72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0.065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0.060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0.57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2.20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VTM 4:2:0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0.2998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31.62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0.150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0.105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−0.15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MS-ILLM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0.2997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29.41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0.034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0.036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1.38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3212E"/>
                          </a:solidFill>
                          <a:latin typeface="Be Vietnam Pro"/>
                        </a:rPr>
                        <a:t>1.99</a:t>
                      </a:r>
                    </a:p>
                  </a:txBody>
                  <a:tcPr marL="45720" marR="45720" marT="9144" marB="9144" anchor="ctr">
                    <a:solidFill>
                      <a:srgbClr val="DCE8F2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mbt2018 (MSE)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0.2989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29.51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0.970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0.182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0.121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−0.63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0.76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mix (chọn theo ảnh)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0.2995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29.78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0.035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0.036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1.41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3212E"/>
                          </a:solidFill>
                          <a:latin typeface="Be Vietnam Pro"/>
                        </a:rPr>
                        <a:t>1.96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464515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Be Vietnam Pro"/>
              </a:rPr>
              <a:t>30 ảnh validation CLIC 2027; PSNR gộp MSE theo số pixel (cách của CLIC). Dòng tô xanh: MS-ILLM. VTM giải mã trên CPU, không đo thời gian. Q̂ v0 đoán đúng 81% lựa chọn người chấm CLIC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840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471A"/>
                </a:solidFill>
                <a:latin typeface="Be Vietnam Pro"/>
              </a:rPr>
              <a:t>6 · BAKE-OFF (08/10)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3212E"/>
                </a:solidFill>
                <a:latin typeface="Be Vietnam Pro"/>
              </a:rPr>
              <a:t>Chọn mode theo ảnh: lợi ít, trừ ảnh màn hình</a:t>
            </a:r>
          </a:p>
        </p:txBody>
      </p:sp>
      <p:graphicFrame>
        <p:nvGraphicFramePr>
          <p:cNvPr id="4" name="Screen chart"/>
          <p:cNvGraphicFramePr>
            <a:graphicFrameLocks noGrp="1"/>
          </p:cNvGraphicFramePr>
          <p:nvPr/>
        </p:nvGraphicFramePr>
        <p:xfrm>
          <a:off x="548640" y="1143000"/>
          <a:ext cx="4206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4920" y="114300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3212E"/>
                </a:solidFill>
                <a:latin typeface="Be Vietnam Pro"/>
              </a:rPr>
              <a:t>Ảnh nào được giao cho base nào (30 ảnh)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074920" y="1417320"/>
          <a:ext cx="352044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1440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Mức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MS-ILLM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VTM-SCC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S1 + residual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0.075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0.15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0.3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Takeaway"/>
          <p:cNvSpPr/>
          <p:nvPr/>
        </p:nvSpPr>
        <p:spPr>
          <a:xfrm>
            <a:off x="5074920" y="25603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6517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3212E"/>
                </a:solidFill>
                <a:latin typeface="Be Vietnam Pro"/>
              </a:rPr>
              <a:t>Cả bộ ảnh: </a:t>
            </a:r>
            <a:r>
              <a:rPr sz="900" b="0">
                <a:solidFill>
                  <a:srgbClr val="13212E"/>
                </a:solidFill>
                <a:latin typeface="Be Vietnam Pro"/>
              </a:rPr>
              <a:t>mix chỉ hơn MS-ILLM +0.03 đến +0.04 Q̂.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212E"/>
                </a:solidFill>
                <a:latin typeface="Be Vietnam Pro"/>
              </a:rPr>
              <a:t>Ảnh màn hình: </a:t>
            </a:r>
            <a:r>
              <a:rPr sz="900" b="0">
                <a:solidFill>
                  <a:srgbClr val="13212E"/>
                </a:solidFill>
                <a:latin typeface="Be Vietnam Pro"/>
              </a:rPr>
              <a:t>ở 0.15 bpp PSNR 29.7 → 32.5 dB, Q̂ 1.87 → 2.26 nhờ VTM-SCC.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212E"/>
                </a:solidFill>
                <a:latin typeface="Be Vietnam Pro"/>
              </a:rPr>
              <a:t>Kết luận: </a:t>
            </a:r>
            <a:r>
              <a:rPr sz="900" b="0">
                <a:solidFill>
                  <a:srgbClr val="13212E"/>
                </a:solidFill>
                <a:latin typeface="Be Vietnam Pro"/>
              </a:rPr>
              <a:t>giữ mode SCC cho ảnh màn hình (decoder VVC có sẵn trong devkit), nhưng đây không phải đòn quyết định.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464515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Be Vietnam Pro"/>
              </a:rPr>
              <a:t>VTM-SCC chỉ chạy trên 5 ảnh màn hình/texture (session c) nên chỉ xuất hiện trong mix. S1 + residual thiếu 2/30 ảnh.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840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471A"/>
                </a:solidFill>
                <a:latin typeface="Be Vietnam Pro"/>
              </a:rPr>
              <a:t>6 · BAKE-OFF (08/10)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3212E"/>
                </a:solidFill>
                <a:latin typeface="Be Vietnam Pro"/>
              </a:rPr>
              <a:t>Năm session Kaggle, một ứng viên chưa chạy được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14300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40080"/>
                <a:gridCol w="329184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Session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Máy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Ứng viên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3212E"/>
                          </a:solidFill>
                          <a:latin typeface="Be Vietnam Pro"/>
                        </a:rPr>
                        <a:t>Kết quả</a:t>
                      </a:r>
                    </a:p>
                  </a:txBody>
                  <a:tcPr marL="45720" marR="45720" marT="9144" marB="9144" anchor="ctr">
                    <a:solidFill>
                      <a:srgbClr val="E9E4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A (06/10)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T4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Q̂ v0, MS-ILLM, mbt, S1 + residual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Thiếu 2 ảnh khi hết giờ (MS-ILLM, mbt bù ở e)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B (06/10)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VTM 4:2:0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Chỉ có byte; metrics mất khi pack (đã sửa)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 (08/10)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VTM-SCC, 5 ảnh màn hình/texture × 6 QP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30/30 điểm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d (08/10)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CPU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VTM 4:2:0, 30 ảnh × 6 QP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180/180 điểm, 8 giờ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e (08/10)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T4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MS-ILLM, mbt, SD-Turbo refiner, CoD-Lite</a:t>
                      </a:r>
                    </a:p>
                  </a:txBody>
                  <a:tcPr marL="45720" marR="45720" marT="9144" marB="9144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3212E"/>
                          </a:solidFill>
                          <a:latin typeface="Be Vietnam Pro"/>
                        </a:rPr>
                        <a:t>CoD-Lite lỗi khi nạp model</a:t>
                      </a:r>
                    </a:p>
                  </a:txBody>
                  <a:tcPr marL="45720" marR="45720" marT="9144" marB="9144" anchor="ctr">
                    <a:solidFill>
                      <a:srgbClr val="F8E3D5"/>
                    </a:solidFill>
                  </a:tcPr>
                </a:tc>
              </a:tr>
            </a:tbl>
          </a:graphicData>
        </a:graphic>
      </p:graphicFrame>
      <p:sp>
        <p:nvSpPr>
          <p:cNvPr id="5" name="Card 1"/>
          <p:cNvSpPr/>
          <p:nvPr/>
        </p:nvSpPr>
        <p:spPr>
          <a:xfrm>
            <a:off x="548640" y="30175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1272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9471A"/>
                </a:solidFill>
                <a:latin typeface="Be Vietnam Pro"/>
              </a:rPr>
              <a:t>DỪNG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64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12E"/>
                </a:solidFill>
                <a:latin typeface="Be Vietnam Pro"/>
              </a:rPr>
              <a:t>SD-Turbo refiner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Be Vietnam Pro"/>
              </a:rPr>
              <a:t>Kém MS-ILLM ~1.2 Q̂, −3 dB PSNR, 11 s/ảnh, decoder 4.5 GB vượt giới hạn 4 GB.</a:t>
            </a:r>
          </a:p>
        </p:txBody>
      </p:sp>
      <p:sp>
        <p:nvSpPr>
          <p:cNvPr id="9" name="Card 2"/>
          <p:cNvSpPr/>
          <p:nvPr/>
        </p:nvSpPr>
        <p:spPr>
          <a:xfrm>
            <a:off x="3291840" y="30175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F6FA3"/>
                </a:solidFill>
                <a:latin typeface="Be Vietnam Pro"/>
              </a:rPr>
              <a:t>CHẠY LẠI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364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12E"/>
                </a:solidFill>
                <a:latin typeface="Be Vietnam Pro"/>
              </a:rPr>
              <a:t>CoD-Lite (diffusion, 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7033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Be Vietnam Pro"/>
              </a:rPr>
              <a:t>Lỗi đếm tham số (y_embedder.encoder = None), đã có bản sửa. ~1 giờ T4 với --cands codlite.</a:t>
            </a:r>
          </a:p>
        </p:txBody>
      </p:sp>
      <p:sp>
        <p:nvSpPr>
          <p:cNvPr id="13" name="Card 3"/>
          <p:cNvSpPr/>
          <p:nvPr/>
        </p:nvSpPr>
        <p:spPr>
          <a:xfrm>
            <a:off x="6035040" y="30175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1272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3212E"/>
                </a:solidFill>
                <a:latin typeface="Be Vietnam Pro"/>
              </a:rPr>
              <a:t>KIỂM 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64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12E"/>
                </a:solidFill>
                <a:latin typeface="Be Vietnam Pro"/>
              </a:rPr>
              <a:t>License MS-ILLM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033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B6573"/>
                </a:solidFill>
                <a:latin typeface="Be Vietnam Pro"/>
              </a:rPr>
              <a:t>Weights công khai là CC-BY-NC. Đọc luật CLIC; hướng dài hạn là tự train codec kiểu MS-ILLM.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548640" y="464515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Be Vietnam Pro"/>
              </a:rPr>
              <a:t>Mọi session dùng commit efba80e (+ thay đổi chưa commit) hoặc 137158d; Q̂ v0 giống nhau ở cả 5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840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98A4B"/>
                </a:solidFill>
                <a:latin typeface="Be Vietnam Pro"/>
              </a:rPr>
              <a:t>TỔNG KẾT BAKE-OFF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Be Vietnam Pro"/>
              </a:rPr>
              <a:t>Base: MS-ILLM. Việc tiếp theo là tốc độ và license</a:t>
            </a:r>
          </a:p>
        </p:txBody>
      </p:sp>
      <p:sp>
        <p:nvSpPr>
          <p:cNvPr id="4" name="Column 1"/>
          <p:cNvSpPr/>
          <p:nvPr/>
        </p:nvSpPr>
        <p:spPr>
          <a:xfrm>
            <a:off x="548640" y="1280160"/>
            <a:ext cx="2560320" cy="3246120"/>
          </a:xfrm>
          <a:prstGeom prst="roundRect">
            <a:avLst>
              <a:gd name="adj" fmla="val 6000"/>
            </a:avLst>
          </a:prstGeom>
          <a:solidFill>
            <a:srgbClr val="1E2B38"/>
          </a:solidFill>
          <a:ln w="9525">
            <a:solidFill>
              <a:srgbClr val="2C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Be Vietnam Pro"/>
              </a:rPr>
              <a:t>Đã biết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22402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MS-ILLM thắng cả 3 mức theo Q̂ (+1.5 đến +2.1 so với VTM)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Codec MSE (VTM, mbt) PSNR cao nhưng Q̂ thấp, khớp Elo 2025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DC-AE + S1 và refiner SD-Turbo đều thua xa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Mode SCC chỉ có lợi cho ảnh màn hình</a:t>
            </a:r>
          </a:p>
        </p:txBody>
      </p:sp>
      <p:sp>
        <p:nvSpPr>
          <p:cNvPr id="7" name="Column 2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6000"/>
            </a:avLst>
          </a:prstGeom>
          <a:solidFill>
            <a:srgbClr val="1E2B38"/>
          </a:solidFill>
          <a:ln w="9525">
            <a:solidFill>
              <a:srgbClr val="2C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417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8A4B"/>
                </a:solidFill>
                <a:latin typeface="Be Vietnam Pro"/>
              </a:rPr>
              <a:t>Rủi 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783080"/>
            <a:ext cx="22402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Giải mã ≈ 60 s/30 ảnh trên T4, mục tiêu ≤ 20 s trên L4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Weights MS-ILLM là CC-BY-NC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Q̂ v0 gần như chưa thấy ảnh diffusion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CoD-Lite chưa được đo</a:t>
            </a:r>
          </a:p>
        </p:txBody>
      </p:sp>
      <p:sp>
        <p:nvSpPr>
          <p:cNvPr id="10" name="Column 3"/>
          <p:cNvSpPr/>
          <p:nvPr/>
        </p:nvSpPr>
        <p:spPr>
          <a:xfrm>
            <a:off x="6035040" y="1280160"/>
            <a:ext cx="2560320" cy="3246120"/>
          </a:xfrm>
          <a:prstGeom prst="roundRect">
            <a:avLst>
              <a:gd name="adj" fmla="val 6000"/>
            </a:avLst>
          </a:prstGeom>
          <a:solidFill>
            <a:srgbClr val="1E2B38"/>
          </a:solidFill>
          <a:ln w="9525">
            <a:solidFill>
              <a:srgbClr val="2C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417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Be Vietnam Pro"/>
              </a:rPr>
              <a:t>Tiếp theo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1783080"/>
            <a:ext cx="22402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Chạy lại CoD-Lite (đã sửa lỗi), ~1 giờ T4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Đo MS-ILLM trên L4: fp16, nạp model, 30 ảnh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Tự train / fine-tune codec kiểu MS-ILLM theo Q̂</a:t>
            </a:r>
          </a:p>
          <a:p>
            <a:pPr algn="l">
              <a:spcBef>
                <a:spcPts val="400"/>
              </a:spcBef>
              <a:spcAft>
                <a:spcPts val="700"/>
              </a:spcAft>
            </a:pPr>
            <a:r>
              <a:rPr sz="950" b="0">
                <a:solidFill>
                  <a:srgbClr val="D5DCE3"/>
                </a:solidFill>
                <a:latin typeface="Be Vietnam Pro"/>
              </a:rPr>
              <a:t>Quyết base cho từng mức: mốc 27/10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