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4.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5.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6.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7.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6517776835047e3" /><Relationship Type="http://schemas.openxmlformats.org/officeDocument/2006/relationships/extended-properties" Target="/docProps/app.xml" Id="R2377575e2dcf41c3" /><Relationship Type="http://schemas.openxmlformats.org/officeDocument/2006/relationships/officeDocument" Target="/ppt/presentation.xml" Id="Rac0fcae740474e9e" /></Relationships>
</file>

<file path=ppt/presentation.xml><?xml version="1.0" encoding="utf-8"?>
<p:presentation xmlns:p="http://schemas.openxmlformats.org/presentationml/2006/main">
  <p:sldMasterIdLst>
    <p:sldMasterId xmlns:r="http://schemas.openxmlformats.org/officeDocument/2006/relationships" id="2147483648" r:id="R9c561acca55e4ed7"/>
  </p:sldMasterIdLst>
  <p:notesMasterIdLst>
    <p:notesMasterId xmlns:r="http://schemas.openxmlformats.org/officeDocument/2006/relationships" r:id="Rcb4e92401b6944d5"/>
  </p:notesMasterIdLst>
  <p:sldIdLst>
    <p:sldId xmlns:r="http://schemas.openxmlformats.org/officeDocument/2006/relationships" id="256" r:id="Red929c58db684e96"/>
    <p:sldId xmlns:r="http://schemas.openxmlformats.org/officeDocument/2006/relationships" id="257" r:id="Rb73a1a5190b8465c"/>
    <p:sldId xmlns:r="http://schemas.openxmlformats.org/officeDocument/2006/relationships" id="258" r:id="R5d0f314d844b43a5"/>
    <p:sldId xmlns:r="http://schemas.openxmlformats.org/officeDocument/2006/relationships" id="259" r:id="R0e4a70d8a2ef4dc3"/>
    <p:sldId xmlns:r="http://schemas.openxmlformats.org/officeDocument/2006/relationships" id="260" r:id="Ra7e2b2443b084446"/>
    <p:sldId xmlns:r="http://schemas.openxmlformats.org/officeDocument/2006/relationships" id="261" r:id="R72f92e7d80074c36"/>
    <p:sldId xmlns:r="http://schemas.openxmlformats.org/officeDocument/2006/relationships" id="262" r:id="R71562bd1ecbe421c"/>
    <p:sldId xmlns:r="http://schemas.openxmlformats.org/officeDocument/2006/relationships" id="263" r:id="R600f9b8ae5704baa"/>
    <p:sldId xmlns:r="http://schemas.openxmlformats.org/officeDocument/2006/relationships" id="264" r:id="R4a7159cefccc46af"/>
    <p:sldId xmlns:r="http://schemas.openxmlformats.org/officeDocument/2006/relationships" id="265" r:id="R1c9f23d4a02e4f4a"/>
    <p:sldId xmlns:r="http://schemas.openxmlformats.org/officeDocument/2006/relationships" id="266" r:id="R0fecbe4ac1ac4ebd"/>
    <p:sldId xmlns:r="http://schemas.openxmlformats.org/officeDocument/2006/relationships" id="267" r:id="R5bbd255f79ba44f1"/>
    <p:sldId xmlns:r="http://schemas.openxmlformats.org/officeDocument/2006/relationships" id="268" r:id="R27544a0a92f14dd7"/>
    <p:sldId xmlns:r="http://schemas.openxmlformats.org/officeDocument/2006/relationships" id="269" r:id="Rd1dc718d204a4cd1"/>
    <p:sldId xmlns:r="http://schemas.openxmlformats.org/officeDocument/2006/relationships" id="270" r:id="Rfe575e5c4522429e"/>
    <p:sldId xmlns:r="http://schemas.openxmlformats.org/officeDocument/2006/relationships" id="271" r:id="Re3afe6fe240e4bcd"/>
    <p:sldId xmlns:r="http://schemas.openxmlformats.org/officeDocument/2006/relationships" id="272" r:id="R3522c6d2d17946a6"/>
    <p:sldId xmlns:r="http://schemas.openxmlformats.org/officeDocument/2006/relationships" id="273" r:id="R2254b6ed57594872"/>
    <p:sldId xmlns:r="http://schemas.openxmlformats.org/officeDocument/2006/relationships" id="274" r:id="R645fb364853448a0"/>
    <p:sldId xmlns:r="http://schemas.openxmlformats.org/officeDocument/2006/relationships" id="275" r:id="Reeb32c1943154d09"/>
    <p:sldId xmlns:r="http://schemas.openxmlformats.org/officeDocument/2006/relationships" id="276" r:id="R55d868f6cab644f3"/>
    <p:sldId xmlns:r="http://schemas.openxmlformats.org/officeDocument/2006/relationships" id="277" r:id="Rcf9e6d1886714516"/>
    <p:sldId xmlns:r="http://schemas.openxmlformats.org/officeDocument/2006/relationships" id="278" r:id="Rd179473798ed40d5"/>
    <p:sldId xmlns:r="http://schemas.openxmlformats.org/officeDocument/2006/relationships" id="279" r:id="Rba8dcf800f7440bc"/>
    <p:sldId xmlns:r="http://schemas.openxmlformats.org/officeDocument/2006/relationships" id="280" r:id="R6d423e3701b24dd4"/>
    <p:sldId xmlns:r="http://schemas.openxmlformats.org/officeDocument/2006/relationships" id="281" r:id="Rfb029e4714ed4b3f"/>
    <p:sldId xmlns:r="http://schemas.openxmlformats.org/officeDocument/2006/relationships" id="282" r:id="R225f33fe9c094ca2"/>
    <p:sldId xmlns:r="http://schemas.openxmlformats.org/officeDocument/2006/relationships" id="283" r:id="Ree492d8854dc481a"/>
    <p:sldId xmlns:r="http://schemas.openxmlformats.org/officeDocument/2006/relationships" id="284" r:id="R48d96f23adbb4963"/>
    <p:sldId xmlns:r="http://schemas.openxmlformats.org/officeDocument/2006/relationships" id="285" r:id="Rb52b1d4e978a459d"/>
    <p:sldId xmlns:r="http://schemas.openxmlformats.org/officeDocument/2006/relationships" id="286" r:id="R1a464f2641c745c6"/>
    <p:sldId xmlns:r="http://schemas.openxmlformats.org/officeDocument/2006/relationships" id="287" r:id="Ra65dc87f6b244dcf"/>
    <p:sldId xmlns:r="http://schemas.openxmlformats.org/officeDocument/2006/relationships" id="288" r:id="R58b831991aab466c"/>
    <p:sldId xmlns:r="http://schemas.openxmlformats.org/officeDocument/2006/relationships" id="289" r:id="R0e1ceb75f16d4c59"/>
    <p:sldId xmlns:r="http://schemas.openxmlformats.org/officeDocument/2006/relationships" id="290" r:id="R999d4b51144f4a59"/>
    <p:sldId xmlns:r="http://schemas.openxmlformats.org/officeDocument/2006/relationships" id="291" r:id="Rfeec7790495e437d"/>
    <p:sldId xmlns:r="http://schemas.openxmlformats.org/officeDocument/2006/relationships" id="292" r:id="Rd020b2fd95bc491a"/>
    <p:sldId xmlns:r="http://schemas.openxmlformats.org/officeDocument/2006/relationships" id="293" r:id="R9ed58c3744794fe5"/>
    <p:sldId xmlns:r="http://schemas.openxmlformats.org/officeDocument/2006/relationships" id="294" r:id="Rb7472a0f474d456f"/>
    <p:sldId xmlns:r="http://schemas.openxmlformats.org/officeDocument/2006/relationships" id="295" r:id="R7c9fd060babe4f7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fd8ee21d894c5a" /><Relationship Type="http://schemas.openxmlformats.org/officeDocument/2006/relationships/slideMaster" Target="/ppt/slideMasters/slideMaster1.xml" Id="R9c561acca55e4ed7" /><Relationship Type="http://schemas.openxmlformats.org/officeDocument/2006/relationships/notesMaster" Target="/ppt/notesMasters/notesMaster1.xml" Id="Rcb4e92401b6944d5" /><Relationship Type="http://schemas.openxmlformats.org/officeDocument/2006/relationships/presProps" Target="/ppt/presProps.xml" Id="Re7e4b103e9754aaf" /><Relationship Type="http://schemas.openxmlformats.org/officeDocument/2006/relationships/tableStyles" Target="/ppt/tableStyles.xml" Id="Rd933a817fce84319" /><Relationship Type="http://schemas.openxmlformats.org/officeDocument/2006/relationships/slide" Target="/ppt/slides/slide1.xml" Id="Red929c58db684e96" /><Relationship Type="http://schemas.openxmlformats.org/officeDocument/2006/relationships/slide" Target="/ppt/slides/slide2.xml" Id="Rb73a1a5190b8465c" /><Relationship Type="http://schemas.openxmlformats.org/officeDocument/2006/relationships/slide" Target="/ppt/slides/slide3.xml" Id="R5d0f314d844b43a5" /><Relationship Type="http://schemas.openxmlformats.org/officeDocument/2006/relationships/slide" Target="/ppt/slides/slide4.xml" Id="R0e4a70d8a2ef4dc3" /><Relationship Type="http://schemas.openxmlformats.org/officeDocument/2006/relationships/slide" Target="/ppt/slides/slide5.xml" Id="Ra7e2b2443b084446" /><Relationship Type="http://schemas.openxmlformats.org/officeDocument/2006/relationships/slide" Target="/ppt/slides/slide6.xml" Id="R72f92e7d80074c36" /><Relationship Type="http://schemas.openxmlformats.org/officeDocument/2006/relationships/slide" Target="/ppt/slides/slide7.xml" Id="R71562bd1ecbe421c" /><Relationship Type="http://schemas.openxmlformats.org/officeDocument/2006/relationships/slide" Target="/ppt/slides/slide8.xml" Id="R600f9b8ae5704baa" /><Relationship Type="http://schemas.openxmlformats.org/officeDocument/2006/relationships/slide" Target="/ppt/slides/slide9.xml" Id="R4a7159cefccc46af" /><Relationship Type="http://schemas.openxmlformats.org/officeDocument/2006/relationships/slide" Target="/ppt/slides/slide10.xml" Id="R1c9f23d4a02e4f4a" /><Relationship Type="http://schemas.openxmlformats.org/officeDocument/2006/relationships/slide" Target="/ppt/slides/slide11.xml" Id="R0fecbe4ac1ac4ebd" /><Relationship Type="http://schemas.openxmlformats.org/officeDocument/2006/relationships/slide" Target="/ppt/slides/slide12.xml" Id="R5bbd255f79ba44f1" /><Relationship Type="http://schemas.openxmlformats.org/officeDocument/2006/relationships/slide" Target="/ppt/slides/slide13.xml" Id="R27544a0a92f14dd7" /><Relationship Type="http://schemas.openxmlformats.org/officeDocument/2006/relationships/slide" Target="/ppt/slides/slide14.xml" Id="Rd1dc718d204a4cd1" /><Relationship Type="http://schemas.openxmlformats.org/officeDocument/2006/relationships/slide" Target="/ppt/slides/slide15.xml" Id="Rfe575e5c4522429e" /><Relationship Type="http://schemas.openxmlformats.org/officeDocument/2006/relationships/slide" Target="/ppt/slides/slide16.xml" Id="Re3afe6fe240e4bcd" /><Relationship Type="http://schemas.openxmlformats.org/officeDocument/2006/relationships/slide" Target="/ppt/slides/slide17.xml" Id="R3522c6d2d17946a6" /><Relationship Type="http://schemas.openxmlformats.org/officeDocument/2006/relationships/slide" Target="/ppt/slides/slide18.xml" Id="R2254b6ed57594872" /><Relationship Type="http://schemas.openxmlformats.org/officeDocument/2006/relationships/slide" Target="/ppt/slides/slide19.xml" Id="R645fb364853448a0" /><Relationship Type="http://schemas.openxmlformats.org/officeDocument/2006/relationships/slide" Target="/ppt/slides/slide20.xml" Id="Reeb32c1943154d09" /><Relationship Type="http://schemas.openxmlformats.org/officeDocument/2006/relationships/slide" Target="/ppt/slides/slide21.xml" Id="R55d868f6cab644f3" /><Relationship Type="http://schemas.openxmlformats.org/officeDocument/2006/relationships/slide" Target="/ppt/slides/slide22.xml" Id="Rcf9e6d1886714516" /><Relationship Type="http://schemas.openxmlformats.org/officeDocument/2006/relationships/slide" Target="/ppt/slides/slide23.xml" Id="Rd179473798ed40d5" /><Relationship Type="http://schemas.openxmlformats.org/officeDocument/2006/relationships/slide" Target="/ppt/slides/slide24.xml" Id="Rba8dcf800f7440bc" /><Relationship Type="http://schemas.openxmlformats.org/officeDocument/2006/relationships/slide" Target="/ppt/slides/slide25.xml" Id="R6d423e3701b24dd4" /><Relationship Type="http://schemas.openxmlformats.org/officeDocument/2006/relationships/slide" Target="/ppt/slides/slide26.xml" Id="Rfb029e4714ed4b3f" /><Relationship Type="http://schemas.openxmlformats.org/officeDocument/2006/relationships/slide" Target="/ppt/slides/slide27.xml" Id="R225f33fe9c094ca2" /><Relationship Type="http://schemas.openxmlformats.org/officeDocument/2006/relationships/slide" Target="/ppt/slides/slide28.xml" Id="Ree492d8854dc481a" /><Relationship Type="http://schemas.openxmlformats.org/officeDocument/2006/relationships/slide" Target="/ppt/slides/slide29.xml" Id="R48d96f23adbb4963" /><Relationship Type="http://schemas.openxmlformats.org/officeDocument/2006/relationships/slide" Target="/ppt/slides/slide30.xml" Id="Rb52b1d4e978a459d" /><Relationship Type="http://schemas.openxmlformats.org/officeDocument/2006/relationships/slide" Target="/ppt/slides/slide31.xml" Id="R1a464f2641c745c6" /><Relationship Type="http://schemas.openxmlformats.org/officeDocument/2006/relationships/slide" Target="/ppt/slides/slide32.xml" Id="Ra65dc87f6b244dcf" /><Relationship Type="http://schemas.openxmlformats.org/officeDocument/2006/relationships/slide" Target="/ppt/slides/slide33.xml" Id="R58b831991aab466c" /><Relationship Type="http://schemas.openxmlformats.org/officeDocument/2006/relationships/slide" Target="/ppt/slides/slide34.xml" Id="R0e1ceb75f16d4c59" /><Relationship Type="http://schemas.openxmlformats.org/officeDocument/2006/relationships/slide" Target="/ppt/slides/slide35.xml" Id="R999d4b51144f4a59" /><Relationship Type="http://schemas.openxmlformats.org/officeDocument/2006/relationships/slide" Target="/ppt/slides/slide36.xml" Id="Rfeec7790495e437d" /><Relationship Type="http://schemas.openxmlformats.org/officeDocument/2006/relationships/slide" Target="/ppt/slides/slide37.xml" Id="Rd020b2fd95bc491a" /><Relationship Type="http://schemas.openxmlformats.org/officeDocument/2006/relationships/slide" Target="/ppt/slides/slide38.xml" Id="R9ed58c3744794fe5" /><Relationship Type="http://schemas.openxmlformats.org/officeDocument/2006/relationships/slide" Target="/ppt/slides/slide39.xml" Id="Rb7472a0f474d456f" /><Relationship Type="http://schemas.openxmlformats.org/officeDocument/2006/relationships/slide" Target="/ppt/slides/slide40.xml" Id="R7c9fd060babe4f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22252b2cc6049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5bf7585f633407e" /><Relationship Type="http://schemas.openxmlformats.org/officeDocument/2006/relationships/notesMaster" Target="/ppt/notesMasters/notesMaster1.xml" Id="Rbbe85f1e120443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145aa0b215472d" /><Relationship Type="http://schemas.openxmlformats.org/officeDocument/2006/relationships/notesMaster" Target="/ppt/notesMasters/notesMaster1.xml" Id="R8f23e94a495f46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f952c78b724bde" /><Relationship Type="http://schemas.openxmlformats.org/officeDocument/2006/relationships/notesMaster" Target="/ppt/notesMasters/notesMaster1.xml" Id="Rde817e2bca1348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1e4d286b584cec" /><Relationship Type="http://schemas.openxmlformats.org/officeDocument/2006/relationships/notesMaster" Target="/ppt/notesMasters/notesMaster1.xml" Id="Rb004f58ebeba4e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d2026b2696477a" /><Relationship Type="http://schemas.openxmlformats.org/officeDocument/2006/relationships/notesMaster" Target="/ppt/notesMasters/notesMaster1.xml" Id="R86fca2bf4aa540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8514cdb0e045f5" /><Relationship Type="http://schemas.openxmlformats.org/officeDocument/2006/relationships/notesMaster" Target="/ppt/notesMasters/notesMaster1.xml" Id="R05940f447ae54d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d895eab13d46bf" /><Relationship Type="http://schemas.openxmlformats.org/officeDocument/2006/relationships/notesMaster" Target="/ppt/notesMasters/notesMaster1.xml" Id="R10849b242dec436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95a433f91f447b4" /><Relationship Type="http://schemas.openxmlformats.org/officeDocument/2006/relationships/notesMaster" Target="/ppt/notesMasters/notesMaster1.xml" Id="Rda696d995f6846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8ed373f1b24c6d" /><Relationship Type="http://schemas.openxmlformats.org/officeDocument/2006/relationships/notesMaster" Target="/ppt/notesMasters/notesMaster1.xml" Id="R2e71215e198e49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8298e140054806" /><Relationship Type="http://schemas.openxmlformats.org/officeDocument/2006/relationships/notesMaster" Target="/ppt/notesMasters/notesMaster1.xml" Id="R9dcc56ccef1a49a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771a47d7114baa" /><Relationship Type="http://schemas.openxmlformats.org/officeDocument/2006/relationships/notesMaster" Target="/ppt/notesMasters/notesMaster1.xml" Id="R18fdaa2a512747c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0b0237030b44ff0" /><Relationship Type="http://schemas.openxmlformats.org/officeDocument/2006/relationships/notesMaster" Target="/ppt/notesMasters/notesMaster1.xml" Id="R97c724ed87354b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f5524a89c4d423d" /><Relationship Type="http://schemas.openxmlformats.org/officeDocument/2006/relationships/notesMaster" Target="/ppt/notesMasters/notesMaster1.xml" Id="R528f367fadb146f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1e7a7c6c90d4fa6" /><Relationship Type="http://schemas.openxmlformats.org/officeDocument/2006/relationships/notesMaster" Target="/ppt/notesMasters/notesMaster1.xml" Id="R9df77cc12d6348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de0017d5c214ba9" /><Relationship Type="http://schemas.openxmlformats.org/officeDocument/2006/relationships/notesMaster" Target="/ppt/notesMasters/notesMaster1.xml" Id="R6cd83a5cf09b4c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911dfe4d1b1416f" /><Relationship Type="http://schemas.openxmlformats.org/officeDocument/2006/relationships/notesMaster" Target="/ppt/notesMasters/notesMaster1.xml" Id="Rcd7c97f3649f492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f704696555542b6" /><Relationship Type="http://schemas.openxmlformats.org/officeDocument/2006/relationships/notesMaster" Target="/ppt/notesMasters/notesMaster1.xml" Id="R8393efca267844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8cc2d3b090d4eec" /><Relationship Type="http://schemas.openxmlformats.org/officeDocument/2006/relationships/notesMaster" Target="/ppt/notesMasters/notesMaster1.xml" Id="R4a08e839ef2d46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9140d463cd4d29" /><Relationship Type="http://schemas.openxmlformats.org/officeDocument/2006/relationships/notesMaster" Target="/ppt/notesMasters/notesMaster1.xml" Id="Rcae268d3a31c4f1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8c09411e6504933" /><Relationship Type="http://schemas.openxmlformats.org/officeDocument/2006/relationships/notesMaster" Target="/ppt/notesMasters/notesMaster1.xml" Id="R8ce1e5088ca94e4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c474ea4b544105" /><Relationship Type="http://schemas.openxmlformats.org/officeDocument/2006/relationships/notesMaster" Target="/ppt/notesMasters/notesMaster1.xml" Id="Re63b4251cd854ba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f43fc8213564b28" /><Relationship Type="http://schemas.openxmlformats.org/officeDocument/2006/relationships/notesMaster" Target="/ppt/notesMasters/notesMaster1.xml" Id="R5e11bd116a9c4ad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2e7deddc10f4982" /><Relationship Type="http://schemas.openxmlformats.org/officeDocument/2006/relationships/notesMaster" Target="/ppt/notesMasters/notesMaster1.xml" Id="Rcbc27b697f1b434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ce586b9eb35145d5" /><Relationship Type="http://schemas.openxmlformats.org/officeDocument/2006/relationships/notesMaster" Target="/ppt/notesMasters/notesMaster1.xml" Id="Rbcf380dba6ca477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4497575fa6440fe" /><Relationship Type="http://schemas.openxmlformats.org/officeDocument/2006/relationships/notesMaster" Target="/ppt/notesMasters/notesMaster1.xml" Id="Raa044f0f04474b7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7d525098e494ec6" /><Relationship Type="http://schemas.openxmlformats.org/officeDocument/2006/relationships/notesMaster" Target="/ppt/notesMasters/notesMaster1.xml" Id="Rd8e69c06ff1a458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95c12b5aa304aee" /><Relationship Type="http://schemas.openxmlformats.org/officeDocument/2006/relationships/notesMaster" Target="/ppt/notesMasters/notesMaster1.xml" Id="R0e36ce172ffb4b0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39eefb5a4f2479e" /><Relationship Type="http://schemas.openxmlformats.org/officeDocument/2006/relationships/notesMaster" Target="/ppt/notesMasters/notesMaster1.xml" Id="R5f602b033570443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73ab636eaee4640" /><Relationship Type="http://schemas.openxmlformats.org/officeDocument/2006/relationships/notesMaster" Target="/ppt/notesMasters/notesMaster1.xml" Id="R5e553b9224414b5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ea8be2e381e4187" /><Relationship Type="http://schemas.openxmlformats.org/officeDocument/2006/relationships/notesMaster" Target="/ppt/notesMasters/notesMaster1.xml" Id="Rd4403535c3b7499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96aad750cad415d" /><Relationship Type="http://schemas.openxmlformats.org/officeDocument/2006/relationships/notesMaster" Target="/ppt/notesMasters/notesMaster1.xml" Id="Rbebe28b8516f4e0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1b2636771be4aec" /><Relationship Type="http://schemas.openxmlformats.org/officeDocument/2006/relationships/notesMaster" Target="/ppt/notesMasters/notesMaster1.xml" Id="R8389dc8e186e4c0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d5c803192b4b42" /><Relationship Type="http://schemas.openxmlformats.org/officeDocument/2006/relationships/notesMaster" Target="/ppt/notesMasters/notesMaster1.xml" Id="R00ebe1ea5d9b454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1be8d5c1a9f437f" /><Relationship Type="http://schemas.openxmlformats.org/officeDocument/2006/relationships/notesMaster" Target="/ppt/notesMasters/notesMaster1.xml" Id="R48d8929b143e47c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64e3152653d4a15" /><Relationship Type="http://schemas.openxmlformats.org/officeDocument/2006/relationships/notesMaster" Target="/ppt/notesMasters/notesMaster1.xml" Id="R3a96acb1c58b4c4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03d6fb6ce4b499d" /><Relationship Type="http://schemas.openxmlformats.org/officeDocument/2006/relationships/notesMaster" Target="/ppt/notesMasters/notesMaster1.xml" Id="Rd75dbd74f48440f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626dc3f5ca14b5b" /><Relationship Type="http://schemas.openxmlformats.org/officeDocument/2006/relationships/notesMaster" Target="/ppt/notesMasters/notesMaster1.xml" Id="R873a98989165492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cb6a03884764406" /><Relationship Type="http://schemas.openxmlformats.org/officeDocument/2006/relationships/notesMaster" Target="/ppt/notesMasters/notesMaster1.xml" Id="R7c9c0e0c4279497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92a02fbe831454a" /><Relationship Type="http://schemas.openxmlformats.org/officeDocument/2006/relationships/notesMaster" Target="/ppt/notesMasters/notesMaster1.xml" Id="Rea7b6df3cb75418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55222001127941e3" /><Relationship Type="http://schemas.openxmlformats.org/officeDocument/2006/relationships/notesMaster" Target="/ppt/notesMasters/notesMaster1.xml" Id="R0311afae3ba645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phút trình bày và 10 phút trao đổi. Mở đầu bằng bài toán: chất lượng cảm nhận dưới ngân sách byte, đồng thời decoder phải chạy được trong môi trường thi. Các kết quả là snapshot ngày 15/10/2026, không phải xếp hạng cuộc thi.</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Dành khoảng 8 phút cho bối cảnh và cách đánh giá, 22 phút cho các mô hình, 13 phút cho kết quả, 7 phút cho kế hoạch. Phần hỏi đáp khoảng 10 phút. Có thể lướt qua các mô hình tham khảo nếu cần dành nhiều thời gian cho thảo luận.</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Luật được kiểm lại từ trang chính thức ngày 15/10/2026. Cần phân biệt giới hạn 5 giờ của một submission với điều kiện loại 25% bài chậm nhất khỏi giải thưởng. Mốc 20 giây của dự án chỉ là mục tiêu nội bộ. Mỗi decoder dùng ở test phải khớp hash decoder đã đăng ký trong validation.</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https://clic2027.compression.cc/tasks/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bằng trường hợp chữ: ảnh có texture sắc nét vẫn có thể sinh sai ký tự. Với vùng cỏ hoặc lông, sai số pixel thấp có thể tạo cảm giác bị làm mượt. Mục tiêu là cân bằng fidelity với ảnh gốc và độ tự nhiên, sau đó xác nhận bằng người. Không suy chất lượng cảm nhận từ PSNR đơn lẻ.</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https://proceedings.mlr.press/v202/muckley23a/muckley23a.pdf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bước tạo artifact kiểm được. Tập 30 ảnh là validation chính thức, trùng test CLIC 2025. Những thí nghiệm trên cùng tập này hỗ trợ lựa chọn kỹ thuật nhưng cần holdout độc lập để đánh giá tổng quát hóa. Không dùng validation để train codec.</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https://clic2027.compression.cc/tasks/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Bradley–Terry: mô hình dự đoán xác suất một reconstruction được thích hơn reconstruction kia. Mỗi metric đi qua biến đổi nhất quán trước khi cộng trọng số. Bias vị trí A/B chỉ dùng cho xác suất, không cộng vào utility từng ảnh của allocator. Q̂ là thước đo sàng lọc nội bộ.</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Cùng miền test 2024t, dấu PSNR đạt 0.705 và Q̂ v0 đạt 0.812. Q̂ v1 đạt 0.833 nhưng ranking ở rate thấp chưa phù hợp nên bảng codec vẫn dùng v0. Không trộn với kết quả 5-fold trên 8.000 cặp. Cần kiểm split theo ảnh, leakage và calibration.</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Bpp toàn tập tính từ tổng byte và tổng pixel, không lấy trung bình bpp từng ảnh nếu kích thước khác nhau. Allocator chọn từ các điểm đã encode thật. Mỗi q không tương đương một bpp cố định giữa model. Header, mode và các tham số cần để decode đều phải tính vào stream.</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bảng này để định vị trước khi đi vào chi tiết. Các nhóm chồng lấn: PULSE vẫn có hyperprior, DiT-IC vẫn cần entropy coding. Điểm phân biệt là đường dựng ảnh và nơi đặt chi phí. Đây là cách tổ chức của báo cáo, không phải phân loại chính thức của tác giả.</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Encoder tạo latent y, hyper encoder tạo z. Phải entropy-decode z trước để dự đoán mean và scale cho y. Mạng synthesis biến latent giải mã thành RGB. Trong repo, mbt2018_mean là MeanScaleHyperprior, không phải biến thể raster-autoregressive đầy đủ trong paper MBT.</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https://arxiv.org/pdf/1809.02736</a:t>
            </a:r>
          </a:p>
          <a:p xmlns:a="http://schemas.openxmlformats.org/drawingml/2006/main">
            <a:r>
              <a:t>https://interdigitalinc.github.io/CompressAI/models.html#meanscalehyperprior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ICML 2023 dùng VQ-VAE để tạo nhãn đặc trưng cục bộ. U-Net discriminator dự đoán codebook label của ảnh thật hoặc fake. Loss buộc reconstruction giữ cấu trúc nhãn của ảnh gốc. Khi decode chỉ cần codec, không cần VQ-VAE tạo nhãn hoặc discriminator.</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https://proceedings.mlr.press/v202/muckley23a/muckley23a.pdf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Giai đoạn 1 train autoencoder không discriminator trong 1 triệu bước. Giai đoạn 2 fine-tune decoder với mục tiêu rate-distortion-perception. Không cần trình bày toàn bộ hyperparameter trong slide, có trong phụ lục A report. Nhấn mạnh tín hiệu training tốt có thể giúp decoder mà không mang teacher vào gói cuối.</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https://proceedings.mlr.press/v202/muckley23a/muckley23a.pdf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theo code đang chạy: latent codec giải mean, log-variance, residual và prompt latent. Prompter cung cấp conditioning cho SANA. Sau một forward DiT và scheduler step, cộng residual và hiệu chỉnh scale rồi DC-AE dựng RGB. Một bước diffusion vẫn có thể dùng backbone lớn.</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https://arxiv.org/html/2603.13162v1</a:t>
            </a:r>
          </a:p>
          <a:p xmlns:a="http://schemas.openxmlformats.org/drawingml/2006/main">
            <a:r>
              <a:t>https://github.com/Eric-qi/DiT-IC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Variance-guided flow đưa uncertainty vào mức tái tạo. Self-distillation dùng biểu diễn encoder đóng băng làm đích. Latent guidance thay prompt văn bản bằng embedding từ latent. Phân biệt recipe trong paper với thí nghiệm student của dự án, vốn thu hẹp một phần decoder DC-AE.</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https://arxiv.org/html/2603.13162v1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DC-AE giải quyết khó khăn khi nén không gian sâu qua residual autoencoding và training nhiều giai đoạn. SANA giảm chi phí attention trong latent nhỏ. Cả hai là nền tảng representation và generation. Để thành codec cần thêm lượng tử hóa, entropy model và bitstream độc lập.</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https://arxiv.org/html/2410.10733v1</a:t>
            </a:r>
          </a:p>
          <a:p xmlns:a="http://schemas.openxmlformats.org/drawingml/2006/main">
            <a:r>
              <a:t>https://arxiv.org/html/2410.10629v1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Hình nguyên bản từ repo Microsoft GenCodec. Đi từ trái sang phải: encoder low-resolution, entropy path tách CDF số nguyên, cuối cùng là synthesis nhẹ dùng AdaLN renderer. Dừng ở vùng entropy để giải thích hai lượt. Giới thiệu sự khác nhau giữa base và L trên slide tiếp theo.</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https://arxiv.org/html/2609.18602v1</a:t>
            </a:r>
          </a:p>
          <a:p xmlns:a="http://schemas.openxmlformats.org/drawingml/2006/main">
            <a:r>
              <a:t>https://github.com/microsoft/GenCodec/blob/main/PULSE/README.md</a:t>
            </a:r>
          </a:p>
          <a:p xmlns:a="http://schemas.openxmlformats.org/drawingml/2006/main">
            <a:r>
              <a:t>https://raw.githubusercontent.com/microsoft/GenCodec/main/PULSE/assets/architecture.png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Integer Linear CDF chọn bảng xác suất. Meta Prior truyền bank index cho hyperlatent. Mạng synthesis float có thể khác pixel giữa các nền tảng ngay cả khi entropy symbol khớp. PULSE-L là bản perceptual lớn hơn, không được lấy 5.2 kMAC/pixel của base để mô tả L.</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https://arxiv.org/html/2609.18602v1</a:t>
            </a:r>
          </a:p>
          <a:p xmlns:a="http://schemas.openxmlformats.org/drawingml/2006/main">
            <a:r>
              <a:t>https://github.com/microsoft/GenCodec/blob/main/PULSE/README.md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dùng VQ với mã chỉ số độ dài cố định. Condition decoder phục hồi đặc trưng cho diffusion convolution một bước trong pixel space. DMD teacher CoD và GAN chỉ phục vụ training. Trong repo inference khởi đầu bằng tensor không, pad theo bội số 64 và crop lại.</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https://arxiv.org/html/2604.12525v1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DC-VIC dự đoán token VQGAN và dùng SFT để sửa feature. AFP-GIC dùng prior hợp nhất từ AdaCode, encoder nhìn prior gốc còn decoder ước lượng từ latent. Cả hai không được dùng prior từ ảnh gốc tại decoder. Trong repo chỉ có pilot, không kết luận tổng quát về toàn bộ kiến trúc.</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https://doi.org/10.1109/ACCESS.2024.3522238</a:t>
            </a:r>
          </a:p>
          <a:p xmlns:a="http://schemas.openxmlformats.org/drawingml/2006/main">
            <a:r>
              <a:t>https://arxiv.org/html/2605.16817v2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thay representation và rate. Beta điều chỉnh realism trong generator qua Fourier embedding và các residual block. Cùng một latent có thể decode với nhiều beta, nhưng beta không bổ sung thông tin từ ảnh gốc. HRRGAN dùng reconstruction ở rate cao hơn làm đối chiếu khi train.</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https://arxiv.org/html/2405.16817v1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Cool-Chic tối ưu latent và mạng riêng cho từng ảnh. Bitstream mang cả latent và tham số mạng lượng tử. Decoder có thể rất nhỏ nhưng encoder cần nhiều thời gian tối ưu. Phiên bản repo pin tag clic2025 khác paper gốc 2023, không gán MAC của paper gốc cho binary mới.</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https://arxiv.org/pdf/2212.05458</a:t>
            </a:r>
          </a:p>
          <a:p xmlns:a="http://schemas.openxmlformats.org/drawingml/2006/main">
            <a:r>
              <a:t>https://github.com/Orange-OpenSource/Cool-Chic/tree/clic2025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VVC dùng chia khối, dự đoán intra và residual. Các công cụ screen content khai thác cấu trúc lặp, vùng phẳng và bảng màu. Wrapper trong repo có fallback flags nếu binary từ chối. Do đó log flags thực phải đi cùng điểm kết quả.</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https://doi.org/10.1109/TCSVT.2021.3101953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S1 là thiết kế đọc từ code, không có paper S1 độc lập. Nó nén latent DC-AE với hyperprior, gain và dither. Refiner SD-Turbo là cách repo ghép img2img vào reconstruction MS-ILLM. ADD gốc tăng tốc generation, không định nghĩa codec. Mọi trọng số refiner phải tính vào gói cuối.</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https://arxiv.org/html/2311.17042v1</a:t>
            </a:r>
          </a:p>
          <a:p xmlns:a="http://schemas.openxmlformats.org/drawingml/2006/main">
            <a:r>
              <a:t>D:/AwesomeCV/ratflow-codec/src/clic27/codec/latent_codec.py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lấy snapshot bake-off ngày 13/10 tại 0.075 bpp. Q̂ âm chỉ thể hiện vị trí trên thang proxy, không phải chất lượng âm. DiT-IC có điểm cao nhất trong các codec đơn được hiển thị. Mix có thể chọn quality khác nhau cho từng ảnh.</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Dùng số mới nhất của vòng tích hợp q0–q4, không lấy 1.4912 của vòng pilot trước đó. Mức tăng tại 0.3 là khoảng 0.0763 điểm Q̂. Không chuyển mức tăng này thành phần trăm chất lượng. Các điểm là bake-off trước thay decoder MS-ILLM deterministic, output mới cần chấm lại.</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D:/AwesomeCV/ratflow-codec/reports/CLIC2027_pulse_integration_2026-10-15.md</a:t>
            </a:r>
          </a:p>
          <a:p xmlns:a="http://schemas.openxmlformats.org/drawingml/2006/main">
            <a:r>
              <a:t>D:/AwesomeCV/ratflow-codec/reports/CLIC2027_msillm_stream_audit_2026-10-15.md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số ảnh, không phải tỷ trọng byte. Mix còn giữ MS-ILLM, VTM-SCC và DiT-IC nên chi phí load nhiều họ model vẫn tồn tại. Tổng stream trong bake-off là 3.231.292 byte, tương đương 0.299730 bpp. Header MS-ILLM sau audit tăng thêm 120 byte và cần chấm lại output.</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D:/AwesomeCV/ratflow-codec/reports/CLIC2027_pulse_integration_2026-10-15.md</a:t>
            </a:r>
          </a:p>
          <a:p xmlns:a="http://schemas.openxmlformats.org/drawingml/2006/main">
            <a:r>
              <a:t>D:/AwesomeCV/ratflow-codec/reports/CLIC2027_msillm_stream_audit_2026-10-15.md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crop 512x512 do một người chấm. DiT-IC thắng 62/90 tổng thể, 55/75 ảnh tự nhiên và 4/12 ảnh chữ/màn hình. Các nhóm hiển thị không bao gồm toàn bộ loại nội dung. Có 10 cặp lặp và độ nhất quán 7/10. Crop cùng ảnh phụ thuộc nhau nên không coi 90 cặp là 90 mẫu độc lập.</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Thí nghiệm giảm kênh ở các tầng DC-AE resolution cao, train L1 và LPIPS rồi GAN. Q̂ giảm ở q2, q3 và q4. Số tốc độ lịch sử teacher 17.5 giây so student 11.4 giây trên 30 ảnh L40 chưa bao gồm đầy đủ cùng protocol cold-start. Quyết định cuối cần benchmark L4.</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cấu hình đo một lượt trên L40. V2 tắt nén lại PNG đầu ra nhưng giữ pixel nguyên vẹn. Bitrate codec tính trên stream đầu vào, không phải kích thước PNG dựng lại. Tổng wall gồm unzip, khởi động, nạp model, đọc stream và ghi ảnh. Không ngoại suy thành tốc độ toàn mix hoặc L4.</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D:/AwesomeCV/ratflow-codec/reports/CLIC2027_pulse_integration_2026-10-15.md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Gói ZIP chưa mang Python, Torch, NumPy, Pillow và CUDA. Extension build theo server Linux x86_64 Python 3.12. Đã dùng thư mục sạch và tiến trình mới, chặn TCP trong Python cùng offline flags, chưa cô lập mạng cấp hệ điều hành. Đây là bằng chứng deployment từng nhánh.</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D:/AwesomeCV/ratflow-codec/reports/CLIC2027_pulse_integration_2026-10-15.md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CDF lệch có thể làm symbol entropy sai và ảnh hỏng. Tuy nhiên CDF/symbol khớp chưa đảm bảo pixel float khớp. MS-ILLM mới kiểm 5 ảnh trong allocation, deterministic đạt parity giữa tiến trình. Output có khác baseline nhẹ nên chưa chuyển điểm Q̂ cũ cho output mới.</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D:/AwesomeCV/ratflow-codec/reports/CLIC2027_msillm_stream_audit_2026-10-15.md</a:t>
            </a:r>
          </a:p>
          <a:p xmlns:a="http://schemas.openxmlformats.org/drawingml/2006/main">
            <a:r>
              <a:t>https://github.com/microsoft/GenCodec/blob/main/PULSE/README.md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slide chuyển từ kết quả sang kế hoạch. Có bằng chứng hợp lý để chọn hướng, nhưng chưa đủ gọi hệ thống đã sẵn sàng dự thi. Việc bổ sung checkpoint vào allocator dễ hơn đóng gói một decoder chạy độc lập. Chấm mù mới có một người và mix mới chưa qua chấm mù.</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giả thuyết nghiên cứu, chưa chạy. Nếu một codec chỉ được chọn cho một ảnh nhưng có chi phí load lớn, lựa chọn tốt theo Q̂ có thể làm wall time xấu đi. Mô hình thời gian thêm chi phí dùng chung theo họ decoder. Vẫn phải benchmark gói thật vì I/O và scheduling có thể phi tuyến.</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Giữ checkpoint, ảnh và tập điểm RD cố định. Mỗi nhánh thêm một yếu tố để xác định nguyên nhân cải thiện. A3 chỉ triển khai khi đã có calibration và dữ liệu độc lập cho uncertainty. Kết quả chính phải là Pareto chất lượng và thời gian thực, không chỉ objective của solver.</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PULSE-L hiện không có lựa chọn vừa budget riêng ở 0.075 hoặc 0.15 trong lưới đã thử. Đề xuất fine-tune RD và rate conditioning trước khi distillation. Dùng teacher image-space vì latent DiT-IC và PULSE không tương thích. Vùng chữ/mặt ưu tiên độ trung thực, texture có thể nhận tín hiệu teacher.</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ngân sách đề xuất, không phải các run đã khởi chạy. Cùng số update, crop, dữ liệu và seed ở pilot. Báo GPU-giờ riêng vì mỗi nhánh có chi phí khác. Cache teacher offline để tránh nạp hai model nặng đồng thời. Nếu finalist có lợi, xác nhận bằng nhiều seed.</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dùng lịch cứng khi L4 còn là phụ thuộc bên ngoài. Bước một tạo baseline deployment đáng tin, bước hai xác nhận chất lượng, bước ba mới so A/B. Giữ mọi run có version, checksum và artifact tái lập. Nhánh refinement theo vùng xếp sau A/B để tránh phân tán tài nguyên.</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Dành khoảng 10 phút thảo luận. Tóm tắt bằng chứng: DiT-IC có tín hiệu rate thấp, PULSE-L cải thiện mix ở rate cao hơn, deployment toàn mix còn thiếu. Các quyết định cần ý kiến là trọng tâm đóng góp khoa học, thiết kế đánh giá độc lập và nguồn lực L4.</a:t>
            </a:r>
          </a:p>
          <a:p xmlns:a="http://schemas.openxmlformats.org/drawingml/2006/main">
            <a:r>
              <a:t/>
            </a:r>
          </a:p>
          <a:p xmlns:a="http://schemas.openxmlformats.org/drawingml/2006/main">
            <a:r>
              <a:t>Nguồn:</a:t>
            </a:r>
          </a:p>
          <a:p xmlns:a="http://schemas.openxmlformats.org/drawingml/2006/main">
            <a:r>
              <a:t>D:/AwesomeCV/ratflow-codec/reports/CLIC2027_report_for_adviser.md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tham khảo, không cần trình bày tuần tự. Liên kết đầy đủ nằm trong speaker notes và trong report.</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https://arxiv.org/pdf/1809.02736</a:t>
            </a:r>
          </a:p>
          <a:p xmlns:a="http://schemas.openxmlformats.org/drawingml/2006/main">
            <a:r>
              <a:t>https://proceedings.mlr.press/v202/muckley23a/muckley23a.pdf</a:t>
            </a:r>
          </a:p>
          <a:p xmlns:a="http://schemas.openxmlformats.org/drawingml/2006/main">
            <a:r>
              <a:t>https://arxiv.org/html/2603.13162v1</a:t>
            </a:r>
          </a:p>
          <a:p xmlns:a="http://schemas.openxmlformats.org/drawingml/2006/main">
            <a:r>
              <a:t>https://arxiv.org/html/2410.10733v1</a:t>
            </a:r>
          </a:p>
          <a:p xmlns:a="http://schemas.openxmlformats.org/drawingml/2006/main">
            <a:r>
              <a:t>https://arxiv.org/html/2410.10629v1</a:t>
            </a:r>
          </a:p>
          <a:p xmlns:a="http://schemas.openxmlformats.org/drawingml/2006/main">
            <a:r>
              <a:t>https://arxiv.org/html/2609.18602v1</a:t>
            </a:r>
          </a:p>
          <a:p xmlns:a="http://schemas.openxmlformats.org/drawingml/2006/main">
            <a:r>
              <a:t>https://arxiv.org/html/2604.12525v1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URL cụ thể nằm trong speaker notes. Số liệu nội bộ có thể đối chiếu từ report tích hợp PULSE-L và audit stream MS-ILLM. Report là snapshot 15/10/2026. Hai slide cuối phục vụ tra cứu sau buổi thuyết trình.</a:t>
            </a:r>
          </a:p>
          <a:p xmlns:a="http://schemas.openxmlformats.org/drawingml/2006/main">
            <a:r>
              <a:t/>
            </a:r>
          </a:p>
          <a:p xmlns:a="http://schemas.openxmlformats.org/drawingml/2006/main">
            <a:r>
              <a:t>Nguồn:</a:t>
            </a:r>
          </a:p>
          <a:p xmlns:a="http://schemas.openxmlformats.org/drawingml/2006/main">
            <a:r>
              <a:t>D:/AwesomeCV/ratflow-codec/reports/CLIC2027_report_for_adviser.md</a:t>
            </a:r>
          </a:p>
          <a:p xmlns:a="http://schemas.openxmlformats.org/drawingml/2006/main">
            <a:r>
              <a:t>https://doi.org/10.1109/ACCESS.2024.3522238</a:t>
            </a:r>
          </a:p>
          <a:p xmlns:a="http://schemas.openxmlformats.org/drawingml/2006/main">
            <a:r>
              <a:t>https://arxiv.org/html/2605.16817v2</a:t>
            </a:r>
          </a:p>
          <a:p xmlns:a="http://schemas.openxmlformats.org/drawingml/2006/main">
            <a:r>
              <a:t>https://arxiv.org/html/2405.16817v1</a:t>
            </a:r>
          </a:p>
          <a:p xmlns:a="http://schemas.openxmlformats.org/drawingml/2006/main">
            <a:r>
              <a:t>https://arxiv.org/pdf/2212.05458</a:t>
            </a:r>
          </a:p>
          <a:p xmlns:a="http://schemas.openxmlformats.org/drawingml/2006/main">
            <a:r>
              <a:t>https://doi.org/10.1109/TCSVT.2021.3101953</a:t>
            </a:r>
          </a:p>
          <a:p xmlns:a="http://schemas.openxmlformats.org/drawingml/2006/main">
            <a:r>
              <a:t>https://arxiv.org/html/2311.17042v1</a:t>
            </a:r>
          </a:p>
          <a:p xmlns:a="http://schemas.openxmlformats.org/drawingml/2006/main">
            <a:r>
              <a:t>https://clic2027.compression.cc/tasks/</a:t>
            </a:r>
          </a:p>
          <a:p xmlns:a="http://schemas.openxmlformats.org/drawingml/2006/main">
            <a:r>
              <a:t>D:/AwesomeCV/ratflow-codec/reports/CLIC2027_pulse_integration_2026-10-15.md</a:t>
            </a:r>
          </a:p>
          <a:p xmlns:a="http://schemas.openxmlformats.org/drawingml/2006/main">
            <a:r>
              <a:t>D:/AwesomeCV/ratflow-codec/reports/CLIC2027_msillm_stream_audit_2026-10-15.md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40aa44ea17458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f25092eb24648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1e34d220eb40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2cf63ec4ec94c1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77df26799a4e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ca949ea7adf430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EC6207-A4E5-42B0-9BCA-E40FC18442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EB517C8-E0D1-415E-AD59-3F13CAE678A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6B9F145-CF10-47E0-9B47-31F5F9A8640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4DF067-3D2E-40B2-9F21-21EC7FC21E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8ADACB-7A83-4BEA-BB59-566A496CC0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3C18A9-8284-4633-860F-F297D04BEE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4217E9-96A0-4A05-A6CD-642F5269EC6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5694B3-9686-4FB6-A2D9-5DD2AC8E3A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0DAC93C-E59B-4397-86A1-7F0EA6FB52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82AE05-BF48-4A04-AF75-585C0F5A06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06b49ee51a43cc" /><Relationship Type="http://schemas.openxmlformats.org/officeDocument/2006/relationships/slideLayout" Target="/ppt/slideLayouts/slideLayout1.xml" Id="R5086170b0505424c" /><Relationship Type="http://schemas.openxmlformats.org/officeDocument/2006/relationships/slideLayout" Target="/ppt/slideLayouts/slideLayout2.xml" Id="Rd54f284dae8c4779" /><Relationship Type="http://schemas.openxmlformats.org/officeDocument/2006/relationships/slideLayout" Target="/ppt/slideLayouts/slideLayout3.xml" Id="R779282c583b94ed8" /><Relationship Type="http://schemas.openxmlformats.org/officeDocument/2006/relationships/slideLayout" Target="/ppt/slideLayouts/slideLayout4.xml" Id="R4066ee69455e4fa2" /><Relationship Type="http://schemas.openxmlformats.org/officeDocument/2006/relationships/slideLayout" Target="/ppt/slideLayouts/slideLayout5.xml" Id="R07615afe06374148" /><Relationship Type="http://schemas.openxmlformats.org/officeDocument/2006/relationships/slideLayout" Target="/ppt/slideLayouts/slideLayout6.xml" Id="Rf1f53f888fa545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86170b0505424c"/>
    <p:sldLayoutId xmlns:r="http://schemas.openxmlformats.org/officeDocument/2006/relationships" id="2147483650" r:id="Rd54f284dae8c4779"/>
    <p:sldLayoutId xmlns:r="http://schemas.openxmlformats.org/officeDocument/2006/relationships" id="2147483651" r:id="R779282c583b94ed8"/>
    <p:sldLayoutId xmlns:r="http://schemas.openxmlformats.org/officeDocument/2006/relationships" id="2147483652" r:id="R4066ee69455e4fa2"/>
    <p:sldLayoutId xmlns:r="http://schemas.openxmlformats.org/officeDocument/2006/relationships" id="2147483653" r:id="R07615afe06374148"/>
    <p:sldLayoutId xmlns:r="http://schemas.openxmlformats.org/officeDocument/2006/relationships" id="2147483654" r:id="Rf1f53f888fa545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b954c23418b4caf" /><Relationship Type="http://schemas.openxmlformats.org/officeDocument/2006/relationships/notesSlide" Target="/ppt/notesSlides/notesSlide1.xml" Id="Ra8966877dd7447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dd86deb04e4e00" /><Relationship Type="http://schemas.openxmlformats.org/officeDocument/2006/relationships/notesSlide" Target="/ppt/notesSlides/notesSlide2.xml" Id="Rd081eb8ec13849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c1396581c2f42be" /><Relationship Type="http://schemas.openxmlformats.org/officeDocument/2006/relationships/notesSlide" Target="/ppt/notesSlides/notesSlide3.xml" Id="R1dc13a4840c14d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ea612c48f540ab" /><Relationship Type="http://schemas.openxmlformats.org/officeDocument/2006/relationships/notesSlide" Target="/ppt/notesSlides/notesSlide4.xml" Id="R56e84798024640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d1e071494094372" /><Relationship Type="http://schemas.openxmlformats.org/officeDocument/2006/relationships/notesSlide" Target="/ppt/notesSlides/notesSlide5.xml" Id="Ra0221dc0fbe64d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62cbc2cd2eb4f51" /><Relationship Type="http://schemas.openxmlformats.org/officeDocument/2006/relationships/notesSlide" Target="/ppt/notesSlides/notesSlide6.xml" Id="R51d4de4d7b9d4f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bf6767129d94ee7" /><Relationship Type="http://schemas.openxmlformats.org/officeDocument/2006/relationships/chart" Target="/ppt/slides/charts/chart1.xml" Id="R83b47d4d97cd49cb" /><Relationship Type="http://schemas.openxmlformats.org/officeDocument/2006/relationships/notesSlide" Target="/ppt/notesSlides/notesSlide7.xml" Id="R4904e8ad0be94a2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8e766478b154300" /><Relationship Type="http://schemas.openxmlformats.org/officeDocument/2006/relationships/notesSlide" Target="/ppt/notesSlides/notesSlide8.xml" Id="Rf2cbdec289a54b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d9fe7a958834f58" /><Relationship Type="http://schemas.openxmlformats.org/officeDocument/2006/relationships/notesSlide" Target="/ppt/notesSlides/notesSlide9.xml" Id="Re89ab89553fa45f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a397d722c37493e" /><Relationship Type="http://schemas.openxmlformats.org/officeDocument/2006/relationships/notesSlide" Target="/ppt/notesSlides/notesSlide10.xml" Id="R63cec332105448f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6d1190baf5d411d" /><Relationship Type="http://schemas.openxmlformats.org/officeDocument/2006/relationships/notesSlide" Target="/ppt/notesSlides/notesSlide11.xml" Id="R130b5bb296a444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cfa0ded0bab46a1" /><Relationship Type="http://schemas.openxmlformats.org/officeDocument/2006/relationships/notesSlide" Target="/ppt/notesSlides/notesSlide12.xml" Id="Rd89368420c49488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9974ccbccef4355" /><Relationship Type="http://schemas.openxmlformats.org/officeDocument/2006/relationships/notesSlide" Target="/ppt/notesSlides/notesSlide13.xml" Id="R7cee466509f14e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acecc0ae1714cda" /><Relationship Type="http://schemas.openxmlformats.org/officeDocument/2006/relationships/notesSlide" Target="/ppt/notesSlides/notesSlide14.xml" Id="R3d6a70530f5b41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25af2cc12ba4c58" /><Relationship Type="http://schemas.openxmlformats.org/officeDocument/2006/relationships/notesSlide" Target="/ppt/notesSlides/notesSlide15.xml" Id="R46083c06d37c4b7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421e22687bb495d" /><Relationship Type="http://schemas.openxmlformats.org/officeDocument/2006/relationships/image" Target="/ppt/media/image.png" Id="R68ad46ec5aaa4c0b" /><Relationship Type="http://schemas.openxmlformats.org/officeDocument/2006/relationships/notesSlide" Target="/ppt/notesSlides/notesSlide16.xml" Id="Rc782e2dbc5874f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4a37a1d3b0f4ee8" /><Relationship Type="http://schemas.openxmlformats.org/officeDocument/2006/relationships/notesSlide" Target="/ppt/notesSlides/notesSlide17.xml" Id="Rb2da019623cd4f1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e5c0cf9fd8b54c14" /><Relationship Type="http://schemas.openxmlformats.org/officeDocument/2006/relationships/notesSlide" Target="/ppt/notesSlides/notesSlide18.xml" Id="R81c30e4705854cc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9e4c94d508f4324" /><Relationship Type="http://schemas.openxmlformats.org/officeDocument/2006/relationships/notesSlide" Target="/ppt/notesSlides/notesSlide19.xml" Id="Ra995115a43e3459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3bdbaa2757546cc" /><Relationship Type="http://schemas.openxmlformats.org/officeDocument/2006/relationships/notesSlide" Target="/ppt/notesSlides/notesSlide20.xml" Id="R33d0d63fd8b84eb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2c5f3c3f6a8436c" /><Relationship Type="http://schemas.openxmlformats.org/officeDocument/2006/relationships/notesSlide" Target="/ppt/notesSlides/notesSlide21.xml" Id="R4811597b9781445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257a545e9eaf4bbd" /><Relationship Type="http://schemas.openxmlformats.org/officeDocument/2006/relationships/notesSlide" Target="/ppt/notesSlides/notesSlide22.xml" Id="R87728ba2a03d481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bcdf223bc2d4dbc" /><Relationship Type="http://schemas.openxmlformats.org/officeDocument/2006/relationships/notesSlide" Target="/ppt/notesSlides/notesSlide23.xml" Id="Re52e4f1504d34bf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8ca674ac691404d" /><Relationship Type="http://schemas.openxmlformats.org/officeDocument/2006/relationships/chart" Target="/ppt/slides/charts/chart2.xml" Id="R304502f2fc6c493f" /><Relationship Type="http://schemas.openxmlformats.org/officeDocument/2006/relationships/notesSlide" Target="/ppt/notesSlides/notesSlide24.xml" Id="Rdfe6eb98f06c4a8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a7b4ae9e9d24231" /><Relationship Type="http://schemas.openxmlformats.org/officeDocument/2006/relationships/chart" Target="/ppt/slides/charts/chart3.xml" Id="R26e84302805342ea" /><Relationship Type="http://schemas.openxmlformats.org/officeDocument/2006/relationships/notesSlide" Target="/ppt/notesSlides/notesSlide25.xml" Id="Rd50289325a0f4f3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0b1b2fb974c54cd0" /><Relationship Type="http://schemas.openxmlformats.org/officeDocument/2006/relationships/chart" Target="/ppt/slides/charts/chart4.xml" Id="Rfecc3bb626974c45" /><Relationship Type="http://schemas.openxmlformats.org/officeDocument/2006/relationships/notesSlide" Target="/ppt/notesSlides/notesSlide26.xml" Id="R12a240d60dbb4cf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7647bfd7f8b45f3" /><Relationship Type="http://schemas.openxmlformats.org/officeDocument/2006/relationships/chart" Target="/ppt/slides/charts/chart5.xml" Id="R001d9930ce894fb0" /><Relationship Type="http://schemas.openxmlformats.org/officeDocument/2006/relationships/notesSlide" Target="/ppt/notesSlides/notesSlide27.xml" Id="R75ab69ac071745d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610db883dc3d422a" /><Relationship Type="http://schemas.openxmlformats.org/officeDocument/2006/relationships/chart" Target="/ppt/slides/charts/chart6.xml" Id="Re8d805d166cb4a5f" /><Relationship Type="http://schemas.openxmlformats.org/officeDocument/2006/relationships/notesSlide" Target="/ppt/notesSlides/notesSlide28.xml" Id="Rc71d67b534bc485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98ac7ab2ba79412b" /><Relationship Type="http://schemas.openxmlformats.org/officeDocument/2006/relationships/chart" Target="/ppt/slides/charts/chart7.xml" Id="R4c825f9de3964cad" /><Relationship Type="http://schemas.openxmlformats.org/officeDocument/2006/relationships/notesSlide" Target="/ppt/notesSlides/notesSlide29.xml" Id="R21d3bbbe9d5c413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45223cac46a4f7f" /><Relationship Type="http://schemas.openxmlformats.org/officeDocument/2006/relationships/notesSlide" Target="/ppt/notesSlides/notesSlide30.xml" Id="R2e5b0f66e560476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354580546ad48f6" /><Relationship Type="http://schemas.openxmlformats.org/officeDocument/2006/relationships/notesSlide" Target="/ppt/notesSlides/notesSlide31.xml" Id="Rc853b043dd15410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7c424958e784c1d" /><Relationship Type="http://schemas.openxmlformats.org/officeDocument/2006/relationships/notesSlide" Target="/ppt/notesSlides/notesSlide32.xml" Id="R4979be0a1c3842f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cbbd62bee5424303" /><Relationship Type="http://schemas.openxmlformats.org/officeDocument/2006/relationships/notesSlide" Target="/ppt/notesSlides/notesSlide33.xml" Id="R483be47c0ca643b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66259876e6846a1" /><Relationship Type="http://schemas.openxmlformats.org/officeDocument/2006/relationships/notesSlide" Target="/ppt/notesSlides/notesSlide34.xml" Id="R0d373d9b62d94ad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1d55241aab64f9f" /><Relationship Type="http://schemas.openxmlformats.org/officeDocument/2006/relationships/notesSlide" Target="/ppt/notesSlides/notesSlide35.xml" Id="R73cc36ca674f431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0b68bec1ddaf48ca" /><Relationship Type="http://schemas.openxmlformats.org/officeDocument/2006/relationships/notesSlide" Target="/ppt/notesSlides/notesSlide36.xml" Id="Rdec1ec6f405e424c"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9b275a9923704cea" /><Relationship Type="http://schemas.openxmlformats.org/officeDocument/2006/relationships/notesSlide" Target="/ppt/notesSlides/notesSlide37.xml" Id="Rdad55fd1b738452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6e0f0bbaf204a7d" /><Relationship Type="http://schemas.openxmlformats.org/officeDocument/2006/relationships/notesSlide" Target="/ppt/notesSlides/notesSlide38.xml" Id="Re2bbd029801d476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99a4eb52c52d4a91" /><Relationship Type="http://schemas.openxmlformats.org/officeDocument/2006/relationships/notesSlide" Target="/ppt/notesSlides/notesSlide39.xml" Id="R8f487e49c89c4f5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dfc47045146c4d2c" /><Relationship Type="http://schemas.openxmlformats.org/officeDocument/2006/relationships/notesSlide" Target="/ppt/notesSlides/notesSlide40.xml" Id="R11191fdf6ad9495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Accuracy</c:v>
          </c:tx>
          <c:spPr>
            <a:solidFill xmlns:a="http://schemas.openxmlformats.org/drawingml/2006/main">
              <a:srgbClr val="007F78"/>
            </a:solidFill>
          </c:spPr>
          <c:invertIfNegative val="0"/>
          <c:cat>
            <c:strRef>
              <c:f>'Chart Data'!$A$2:$A$4</c:f>
              <c:strCache>
                <c:ptCount val="3"/>
                <c:pt idx="0">
                  <c:v>Dấu PSNR</c:v>
                </c:pt>
                <c:pt idx="1">
                  <c:v>Q̂ v0</c:v>
                </c:pt>
                <c:pt idx="2">
                  <c:v>Q̂ v1</c:v>
                </c:pt>
              </c:strCache>
            </c:strRef>
          </c:cat>
          <c:val>
            <c:numRef>
              <c:f>'Chart Data'!$B$2:$B$4</c:f>
              <c:numCache>
                <c:formatCode>0.0%</c:formatCode>
                <c:ptCount val="3"/>
                <c:pt idx="0">
                  <c:v>0.705</c:v>
                </c:pt>
                <c:pt idx="1">
                  <c:v>0.812</c:v>
                </c:pt>
                <c:pt idx="2">
                  <c:v>0.833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7C9D2"/>
            </a:solidFill>
          </a:ln>
        </c:spPr>
        <c:txPr>
          <a:bodyPr xmlns:a="http://schemas.openxmlformats.org/drawingml/2006/main" anchorCtr="1"/>
          <a:lstStyle xmlns:a="http://schemas.openxmlformats.org/drawingml/2006/main"/>
          <a:p xmlns:a="http://schemas.openxmlformats.org/drawingml/2006/main">
            <a:pPr>
              <a:defRPr sz="1725">
                <a:solidFill>
                  <a:srgbClr val="102B40"/>
                </a:solidFill>
                <a:latin typeface="Aptos"/>
                <a:ea typeface="Aptos"/>
                <a:cs typeface="Aptos"/>
              </a:defRPr>
            </a:pPr>
          </a:p>
        </c:txPr>
        <c:crossAx val="48672768"/>
      </c:catAx>
      <c:valAx>
        <c:axId val="48672768"/>
        <c:scaling>
          <c:orientation val="minMax"/>
          <c:max val="1"/>
          <c:min val="0"/>
        </c:scaling>
        <c:delete val="0"/>
        <c:axPos val="l"/>
        <c:majorGridlines>
          <c:spPr>
            <a:ln xmlns:a="http://schemas.openxmlformats.org/drawingml/2006/main" w="9525">
              <a:solidFill>
                <a:srgbClr val="DCE6EB"/>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A79"/>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 v0</c:v>
          </c:tx>
          <c:spPr>
            <a:solidFill xmlns:a="http://schemas.openxmlformats.org/drawingml/2006/main">
              <a:srgbClr val="007F78"/>
            </a:solidFill>
          </c:spPr>
          <c:invertIfNegative val="0"/>
          <c:cat>
            <c:strRef>
              <c:f>'Chart Data'!$A$2:$A$6</c:f>
              <c:strCache>
                <c:ptCount val="5"/>
                <c:pt idx="0">
                  <c:v>VTM-SCC</c:v>
                </c:pt>
                <c:pt idx="1">
                  <c:v>MS-ILLM</c:v>
                </c:pt>
                <c:pt idx="2">
                  <c:v>CoD-Lite</c:v>
                </c:pt>
                <c:pt idx="3">
                  <c:v>DiT-IC</c:v>
                </c:pt>
                <c:pt idx="4">
                  <c:v>Mix</c:v>
                </c:pt>
              </c:strCache>
            </c:strRef>
          </c:cat>
          <c:val>
            <c:numRef>
              <c:f>'Chart Data'!$B$2:$B$6</c:f>
              <c:numCache>
                <c:formatCode>0.000</c:formatCode>
                <c:ptCount val="5"/>
                <c:pt idx="0">
                  <c:v>-2.404</c:v>
                </c:pt>
                <c:pt idx="1">
                  <c:v>-0.451</c:v>
                </c:pt>
                <c:pt idx="2">
                  <c:v>-0.382</c:v>
                </c:pt>
                <c:pt idx="3">
                  <c:v>0.164</c:v>
                </c:pt>
                <c:pt idx="4">
                  <c:v>0.184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7C9D2"/>
            </a:solidFill>
          </a:ln>
        </c:spPr>
        <c:txPr>
          <a:bodyPr xmlns:a="http://schemas.openxmlformats.org/drawingml/2006/main" anchorCtr="1"/>
          <a:lstStyle xmlns:a="http://schemas.openxmlformats.org/drawingml/2006/main"/>
          <a:p xmlns:a="http://schemas.openxmlformats.org/drawingml/2006/main">
            <a:pPr>
              <a:defRPr sz="1725">
                <a:solidFill>
                  <a:srgbClr val="102B40"/>
                </a:solidFill>
                <a:latin typeface="Aptos"/>
                <a:ea typeface="Aptos"/>
                <a:cs typeface="Aptos"/>
              </a:defRPr>
            </a:pPr>
          </a:p>
        </c:txPr>
        <c:crossAx val="48672768"/>
      </c:catAx>
      <c:valAx>
        <c:axId val="48672768"/>
        <c:scaling>
          <c:orientation val="minMax"/>
          <c:max val="0.5"/>
          <c:min val="-2.9"/>
        </c:scaling>
        <c:delete val="0"/>
        <c:axPos val="l"/>
        <c:majorGridlines>
          <c:spPr>
            <a:ln xmlns:a="http://schemas.openxmlformats.org/drawingml/2006/main" w="9525">
              <a:solidFill>
                <a:srgbClr val="DCE6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A79"/>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Mix trước PULSE</c:v>
          </c:tx>
          <c:spPr>
            <a:solidFill xmlns:a="http://schemas.openxmlformats.org/drawingml/2006/main">
              <a:srgbClr val="007F78"/>
            </a:solidFill>
          </c:spPr>
          <c:invertIfNegative val="0"/>
          <c:cat>
            <c:strRef>
              <c:f>'Chart Data'!$A$2:$A$4</c:f>
              <c:strCache>
                <c:ptCount val="3"/>
                <c:pt idx="0">
                  <c:v>0.075 bpp</c:v>
                </c:pt>
                <c:pt idx="1">
                  <c:v>0.15 bpp</c:v>
                </c:pt>
                <c:pt idx="2">
                  <c:v>0.3 bpp</c:v>
                </c:pt>
              </c:strCache>
            </c:strRef>
          </c:cat>
          <c:val>
            <c:numRef>
              <c:f>'Chart Data'!$B$2:$B$4</c:f>
              <c:numCache>
                <c:formatCode>0.0000</c:formatCode>
                <c:ptCount val="3"/>
                <c:pt idx="0">
                  <c:v>0.1836</c:v>
                </c:pt>
                <c:pt idx="1">
                  <c:v>0.7582</c:v>
                </c:pt>
                <c:pt idx="2">
                  <c:v>1.4215</c:v>
                </c:pt>
              </c:numCache>
            </c:numRef>
          </c:val>
        </c:ser>
        <c:ser>
          <c:idx val="1"/>
          <c:order val="1"/>
          <c:tx>
            <c:v>Mix thêm PULSE-L</c:v>
          </c:tx>
          <c:spPr>
            <a:solidFill xmlns:a="http://schemas.openxmlformats.org/drawingml/2006/main">
              <a:srgbClr val="3975AD"/>
            </a:solidFill>
          </c:spPr>
          <c:invertIfNegative val="0"/>
          <c:cat>
            <c:strRef>
              <c:f>'Chart Data'!$C$2:$C$4</c:f>
              <c:strCache>
                <c:ptCount val="3"/>
                <c:pt idx="0">
                  <c:v>0.075 bpp</c:v>
                </c:pt>
                <c:pt idx="1">
                  <c:v>0.15 bpp</c:v>
                </c:pt>
                <c:pt idx="2">
                  <c:v>0.3 bpp</c:v>
                </c:pt>
              </c:strCache>
            </c:strRef>
          </c:cat>
          <c:val>
            <c:numRef>
              <c:f>'Chart Data'!$D$2:$D$4</c:f>
              <c:numCache>
                <c:formatCode>0.0000</c:formatCode>
                <c:ptCount val="3"/>
                <c:pt idx="0">
                  <c:v>0.1841</c:v>
                </c:pt>
                <c:pt idx="1">
                  <c:v>0.7891</c:v>
                </c:pt>
                <c:pt idx="2">
                  <c:v>1.4978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7C9D2"/>
            </a:solidFill>
          </a:ln>
        </c:spPr>
        <c:txPr>
          <a:bodyPr xmlns:a="http://schemas.openxmlformats.org/drawingml/2006/main" anchorCtr="1"/>
          <a:lstStyle xmlns:a="http://schemas.openxmlformats.org/drawingml/2006/main"/>
          <a:p xmlns:a="http://schemas.openxmlformats.org/drawingml/2006/main">
            <a:pPr>
              <a:defRPr sz="1725">
                <a:solidFill>
                  <a:srgbClr val="102B40"/>
                </a:solidFill>
                <a:latin typeface="Aptos"/>
                <a:ea typeface="Aptos"/>
                <a:cs typeface="Aptos"/>
              </a:defRPr>
            </a:pPr>
          </a:p>
        </c:txPr>
        <c:crossAx val="48672768"/>
      </c:catAx>
      <c:valAx>
        <c:axId val="48672768"/>
        <c:scaling>
          <c:orientation val="minMax"/>
          <c:max val="1.75"/>
          <c:min val="0"/>
        </c:scaling>
        <c:delete val="0"/>
        <c:axPos val="l"/>
        <c:majorGridlines>
          <c:spPr>
            <a:ln xmlns:a="http://schemas.openxmlformats.org/drawingml/2006/main" w="9525">
              <a:solidFill>
                <a:srgbClr val="DCE6EB"/>
              </a:solidFill>
            </a:ln>
          </c:spPr>
        </c:majorGridlines>
        <c:numFmt formatCode="0.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A79"/>
                </a:solidFill>
                <a:latin typeface="Aptos"/>
                <a:ea typeface="Aptos"/>
                <a:cs typeface="Apto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Số ảnh</c:v>
          </c:tx>
          <c:spPr>
            <a:solidFill xmlns:a="http://schemas.openxmlformats.org/drawingml/2006/main">
              <a:srgbClr val="007F78"/>
            </a:solidFill>
          </c:spPr>
          <c:invertIfNegative val="0"/>
          <c:cat>
            <c:strRef>
              <c:f>'Chart Data'!$A$2:$A$5</c:f>
              <c:strCache>
                <c:ptCount val="4"/>
                <c:pt idx="0">
                  <c:v>PULSE-L</c:v>
                </c:pt>
                <c:pt idx="1">
                  <c:v>MS-ILLM</c:v>
                </c:pt>
                <c:pt idx="2">
                  <c:v>VTM-SCC</c:v>
                </c:pt>
                <c:pt idx="3">
                  <c:v>DiT-IC</c:v>
                </c:pt>
              </c:strCache>
            </c:strRef>
          </c:cat>
          <c:val>
            <c:numRef>
              <c:f>'Chart Data'!$B$2:$B$5</c:f>
              <c:numCache>
                <c:formatCode>0</c:formatCode>
                <c:ptCount val="4"/>
                <c:pt idx="0">
                  <c:v>22</c:v>
                </c:pt>
                <c:pt idx="1">
                  <c:v>5</c:v>
                </c:pt>
                <c:pt idx="2">
                  <c:v>2</c:v>
                </c:pt>
                <c:pt idx="3">
                  <c:v>1</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7C9D2"/>
            </a:solidFill>
          </a:ln>
        </c:spPr>
        <c:txPr>
          <a:bodyPr xmlns:a="http://schemas.openxmlformats.org/drawingml/2006/main" anchorCtr="1"/>
          <a:lstStyle xmlns:a="http://schemas.openxmlformats.org/drawingml/2006/main"/>
          <a:p xmlns:a="http://schemas.openxmlformats.org/drawingml/2006/main">
            <a:pPr>
              <a:defRPr sz="1725">
                <a:solidFill>
                  <a:srgbClr val="102B40"/>
                </a:solidFill>
                <a:latin typeface="Aptos"/>
                <a:ea typeface="Aptos"/>
                <a:cs typeface="Aptos"/>
              </a:defRPr>
            </a:pPr>
          </a:p>
        </c:txPr>
        <c:crossAx val="48672768"/>
      </c:catAx>
      <c:valAx>
        <c:axId val="48672768"/>
        <c:scaling>
          <c:orientation val="minMax"/>
          <c:max val="25"/>
          <c:min val="0"/>
        </c:scaling>
        <c:delete val="0"/>
        <c:axPos val="l"/>
        <c:majorGridlines>
          <c:spPr>
            <a:ln xmlns:a="http://schemas.openxmlformats.org/drawingml/2006/main" w="9525">
              <a:solidFill>
                <a:srgbClr val="DCE6EB"/>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A79"/>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Tỷ lệ chọn DiT-IC</c:v>
          </c:tx>
          <c:spPr>
            <a:solidFill xmlns:a="http://schemas.openxmlformats.org/drawingml/2006/main">
              <a:srgbClr val="007F78"/>
            </a:solidFill>
          </c:spPr>
          <c:invertIfNegative val="0"/>
          <c:cat>
            <c:strRef>
              <c:f>'Chart Data'!$A$2:$A$4</c:f>
              <c:strCache>
                <c:ptCount val="3"/>
                <c:pt idx="0">
                  <c:v>Tất cả: 62/90</c:v>
                </c:pt>
                <c:pt idx="1">
                  <c:v>Tự nhiên: 55/75</c:v>
                </c:pt>
                <c:pt idx="2">
                  <c:v>Chữ / màn hình: 4/12</c:v>
                </c:pt>
              </c:strCache>
            </c:strRef>
          </c:cat>
          <c:val>
            <c:numRef>
              <c:f>'Chart Data'!$B$2:$B$4</c:f>
              <c:numCache>
                <c:formatCode>0.0%</c:formatCode>
                <c:ptCount val="3"/>
                <c:pt idx="0">
                  <c:v>0.688888888889</c:v>
                </c:pt>
                <c:pt idx="1">
                  <c:v>0.733333333333</c:v>
                </c:pt>
                <c:pt idx="2">
                  <c:v>0.333333333333</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7C9D2"/>
            </a:solidFill>
          </a:ln>
        </c:spPr>
        <c:txPr>
          <a:bodyPr xmlns:a="http://schemas.openxmlformats.org/drawingml/2006/main" anchorCtr="1"/>
          <a:lstStyle xmlns:a="http://schemas.openxmlformats.org/drawingml/2006/main"/>
          <a:p xmlns:a="http://schemas.openxmlformats.org/drawingml/2006/main">
            <a:pPr>
              <a:defRPr sz="1725">
                <a:solidFill>
                  <a:srgbClr val="102B40"/>
                </a:solidFill>
                <a:latin typeface="Aptos"/>
                <a:ea typeface="Aptos"/>
                <a:cs typeface="Aptos"/>
              </a:defRPr>
            </a:pPr>
          </a:p>
        </c:txPr>
        <c:crossAx val="48672768"/>
      </c:catAx>
      <c:valAx>
        <c:axId val="48672768"/>
        <c:scaling>
          <c:orientation val="minMax"/>
          <c:max val="1"/>
          <c:min val="0"/>
        </c:scaling>
        <c:delete val="0"/>
        <c:axPos val="l"/>
        <c:majorGridlines>
          <c:spPr>
            <a:ln xmlns:a="http://schemas.openxmlformats.org/drawingml/2006/main" w="9525">
              <a:solidFill>
                <a:srgbClr val="DCE6EB"/>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A79"/>
                </a:solidFill>
                <a:latin typeface="Aptos"/>
                <a:ea typeface="Aptos"/>
                <a:cs typeface="Apto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Teacher</c:v>
          </c:tx>
          <c:spPr>
            <a:solidFill xmlns:a="http://schemas.openxmlformats.org/drawingml/2006/main">
              <a:srgbClr val="007F78"/>
            </a:solidFill>
          </c:spPr>
          <c:invertIfNegative val="0"/>
          <c:cat>
            <c:strRef>
              <c:f>'Chart Data'!$A$2:$A$4</c:f>
              <c:strCache>
                <c:ptCount val="3"/>
                <c:pt idx="0">
                  <c:v>q2</c:v>
                </c:pt>
                <c:pt idx="1">
                  <c:v>q3</c:v>
                </c:pt>
                <c:pt idx="2">
                  <c:v>q4</c:v>
                </c:pt>
              </c:strCache>
            </c:strRef>
          </c:cat>
          <c:val>
            <c:numRef>
              <c:f>'Chart Data'!$B$2:$B$4</c:f>
              <c:numCache>
                <c:formatCode>0.000</c:formatCode>
                <c:ptCount val="3"/>
                <c:pt idx="0">
                  <c:v>-0.45</c:v>
                </c:pt>
                <c:pt idx="1">
                  <c:v>0.157</c:v>
                </c:pt>
                <c:pt idx="2">
                  <c:v>0.272</c:v>
                </c:pt>
              </c:numCache>
            </c:numRef>
          </c:val>
        </c:ser>
        <c:ser>
          <c:idx val="1"/>
          <c:order val="1"/>
          <c:tx>
            <c:v>Student</c:v>
          </c:tx>
          <c:spPr>
            <a:solidFill xmlns:a="http://schemas.openxmlformats.org/drawingml/2006/main">
              <a:srgbClr val="3975AD"/>
            </a:solidFill>
          </c:spPr>
          <c:invertIfNegative val="0"/>
          <c:cat>
            <c:strRef>
              <c:f>'Chart Data'!$C$2:$C$4</c:f>
              <c:strCache>
                <c:ptCount val="3"/>
                <c:pt idx="0">
                  <c:v>q2</c:v>
                </c:pt>
                <c:pt idx="1">
                  <c:v>q3</c:v>
                </c:pt>
                <c:pt idx="2">
                  <c:v>q4</c:v>
                </c:pt>
              </c:strCache>
            </c:strRef>
          </c:cat>
          <c:val>
            <c:numRef>
              <c:f>'Chart Data'!$D$2:$D$4</c:f>
              <c:numCache>
                <c:formatCode>0.000</c:formatCode>
                <c:ptCount val="3"/>
                <c:pt idx="0">
                  <c:v>-0.584</c:v>
                </c:pt>
                <c:pt idx="1">
                  <c:v>-0.012</c:v>
                </c:pt>
                <c:pt idx="2">
                  <c:v>0.115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7C9D2"/>
            </a:solidFill>
          </a:ln>
        </c:spPr>
        <c:txPr>
          <a:bodyPr xmlns:a="http://schemas.openxmlformats.org/drawingml/2006/main" anchorCtr="1"/>
          <a:lstStyle xmlns:a="http://schemas.openxmlformats.org/drawingml/2006/main"/>
          <a:p xmlns:a="http://schemas.openxmlformats.org/drawingml/2006/main">
            <a:pPr>
              <a:defRPr sz="1725">
                <a:solidFill>
                  <a:srgbClr val="102B40"/>
                </a:solidFill>
                <a:latin typeface="Aptos"/>
                <a:ea typeface="Aptos"/>
                <a:cs typeface="Aptos"/>
              </a:defRPr>
            </a:pPr>
          </a:p>
        </c:txPr>
        <c:crossAx val="48672768"/>
      </c:catAx>
      <c:valAx>
        <c:axId val="48672768"/>
        <c:scaling>
          <c:orientation val="minMax"/>
          <c:max val="0.4"/>
          <c:min val="-0.7"/>
        </c:scaling>
        <c:delete val="0"/>
        <c:axPos val="l"/>
        <c:majorGridlines>
          <c:spPr>
            <a:ln xmlns:a="http://schemas.openxmlformats.org/drawingml/2006/main" w="9525">
              <a:solidFill>
                <a:srgbClr val="DCE6EB"/>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A79"/>
                </a:solidFill>
                <a:latin typeface="Aptos"/>
                <a:ea typeface="Aptos"/>
                <a:cs typeface="Apto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V1</c:v>
          </c:tx>
          <c:spPr>
            <a:solidFill xmlns:a="http://schemas.openxmlformats.org/drawingml/2006/main">
              <a:srgbClr val="007F78"/>
            </a:solidFill>
          </c:spPr>
          <c:invertIfNegative val="0"/>
          <c:cat>
            <c:strRef>
              <c:f>'Chart Data'!$A$2:$A$4</c:f>
              <c:strCache>
                <c:ptCount val="3"/>
                <c:pt idx="0">
                  <c:v>Tổng wall time</c:v>
                </c:pt>
                <c:pt idx="1">
                  <c:v>Chuyển / ghi PNG</c:v>
                </c:pt>
                <c:pt idx="2">
                  <c:v>API decode</c:v>
                </c:pt>
              </c:strCache>
            </c:strRef>
          </c:cat>
          <c:val>
            <c:numRef>
              <c:f>'Chart Data'!$B$2:$B$4</c:f>
              <c:numCache>
                <c:formatCode>0.0</c:formatCode>
                <c:ptCount val="3"/>
                <c:pt idx="0">
                  <c:v>41.374</c:v>
                </c:pt>
                <c:pt idx="1">
                  <c:v>34.885</c:v>
                </c:pt>
                <c:pt idx="2">
                  <c:v>2.319</c:v>
                </c:pt>
              </c:numCache>
            </c:numRef>
          </c:val>
        </c:ser>
        <c:ser>
          <c:idx val="1"/>
          <c:order val="1"/>
          <c:tx>
            <c:v>V2</c:v>
          </c:tx>
          <c:spPr>
            <a:solidFill xmlns:a="http://schemas.openxmlformats.org/drawingml/2006/main">
              <a:srgbClr val="3975AD"/>
            </a:solidFill>
          </c:spPr>
          <c:invertIfNegative val="0"/>
          <c:cat>
            <c:strRef>
              <c:f>'Chart Data'!$C$2:$C$4</c:f>
              <c:strCache>
                <c:ptCount val="3"/>
                <c:pt idx="0">
                  <c:v>Tổng wall time</c:v>
                </c:pt>
                <c:pt idx="1">
                  <c:v>Chuyển / ghi PNG</c:v>
                </c:pt>
                <c:pt idx="2">
                  <c:v>API decode</c:v>
                </c:pt>
              </c:strCache>
            </c:strRef>
          </c:cat>
          <c:val>
            <c:numRef>
              <c:f>'Chart Data'!$D$2:$D$4</c:f>
              <c:numCache>
                <c:formatCode>0.0</c:formatCode>
                <c:ptCount val="3"/>
                <c:pt idx="0">
                  <c:v>12.235</c:v>
                </c:pt>
                <c:pt idx="1">
                  <c:v>5.754</c:v>
                </c:pt>
                <c:pt idx="2">
                  <c:v>2.452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B7C9D2"/>
            </a:solidFill>
          </a:ln>
        </c:spPr>
        <c:txPr>
          <a:bodyPr xmlns:a="http://schemas.openxmlformats.org/drawingml/2006/main" anchorCtr="1"/>
          <a:lstStyle xmlns:a="http://schemas.openxmlformats.org/drawingml/2006/main"/>
          <a:p xmlns:a="http://schemas.openxmlformats.org/drawingml/2006/main">
            <a:pPr>
              <a:defRPr sz="1725">
                <a:solidFill>
                  <a:srgbClr val="102B40"/>
                </a:solidFill>
                <a:latin typeface="Aptos"/>
                <a:ea typeface="Aptos"/>
                <a:cs typeface="Aptos"/>
              </a:defRPr>
            </a:pPr>
          </a:p>
        </c:txPr>
        <c:crossAx val="48672768"/>
      </c:catAx>
      <c:valAx>
        <c:axId val="48672768"/>
        <c:scaling>
          <c:orientation val="minMax"/>
          <c:max val="48"/>
          <c:min val="0"/>
        </c:scaling>
        <c:delete val="0"/>
        <c:axPos val="l"/>
        <c:majorGridlines>
          <c:spPr>
            <a:ln xmlns:a="http://schemas.openxmlformats.org/drawingml/2006/main" w="9525">
              <a:solidFill>
                <a:srgbClr val="DCE6EB"/>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A79"/>
                </a:solidFill>
                <a:latin typeface="Aptos"/>
                <a:ea typeface="Aptos"/>
                <a:cs typeface="Apto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02B40"/>
              </a:solidFill>
              <a:latin typeface="Aptos"/>
              <a:ea typeface="Aptos"/>
              <a:cs typeface="Apto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B4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C1E4A30-4359-41F0-906F-C2F6E3F70958}"/>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FFFFFF"/>
                </a:solidFill>
                <a:latin typeface="Aptos"/>
                <a:ea typeface="Aptos"/>
                <a:cs typeface="Aptos"/>
              </a:defRPr>
            </a:defPPr>
          </a:lstStyle>
          <a:p xmlns:a="http://schemas.openxmlformats.org/drawingml/2006/main">
            <a:pPr>
              <a:defRPr sz="3300" b="1">
                <a:solidFill>
                  <a:srgbClr val="FFFFFF"/>
                </a:solidFill>
                <a:latin typeface="Aptos"/>
                <a:ea typeface="Aptos"/>
                <a:cs typeface="Aptos"/>
              </a:defRPr>
            </a:pPr>
            <a:r>
              <a:rPr sz="3300" b="1">
                <a:solidFill>
                  <a:srgbClr val="FFFFFF"/>
                </a:solidFill>
                <a:latin typeface="Aptos"/>
                <a:ea typeface="Aptos"/>
                <a:cs typeface="Aptos"/>
              </a:rPr>
              <a:t>CLIC 2027</a:t>
            </a:r>
          </a:p>
        </p:txBody>
      </p:sp>
      <p:sp>
        <p:nvSpPr>
          <p:cNvPr id="2" name="">
            <a:extLst xmlns:a="http://schemas.openxmlformats.org/drawingml/2006/main">
              <a:ext uri="{FF2B5EF4-FFF2-40B4-BE49-F238E27FC236}">
                <a16:creationId xmlns:a16="http://schemas.microsoft.com/office/drawing/2014/main" id="{100A2D1D-E2D8-46D3-A673-CB3CC3B7EBCA}"/>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B6CDD8"/>
                </a:solidFill>
                <a:latin typeface="Aptos"/>
                <a:ea typeface="Aptos"/>
                <a:cs typeface="Aptos"/>
              </a:defRPr>
            </a:defPPr>
          </a:lstStyle>
          <a:p xmlns:a="http://schemas.openxmlformats.org/drawingml/2006/main">
            <a:pPr>
              <a:defRPr sz="1275" b="0">
                <a:solidFill>
                  <a:srgbClr val="B6CDD8"/>
                </a:solidFill>
                <a:latin typeface="Aptos"/>
                <a:ea typeface="Aptos"/>
                <a:cs typeface="Aptos"/>
              </a:defRPr>
            </a:pPr>
            <a:r>
              <a:rPr sz="1275" b="0">
                <a:solidFill>
                  <a:srgbClr val="B6CDD8"/>
                </a:solidFill>
                <a:latin typeface="Aptos"/>
                <a:ea typeface="Aptos"/>
                <a:cs typeface="Aptos"/>
              </a:rPr>
              <a:t>01</a:t>
            </a:r>
          </a:p>
        </p:txBody>
      </p:sp>
      <p:sp>
        <p:nvSpPr>
          <p:cNvPr id="3" name="">
            <a:extLst xmlns:a="http://schemas.openxmlformats.org/drawingml/2006/main">
              <a:ext uri="{FF2B5EF4-FFF2-40B4-BE49-F238E27FC236}">
                <a16:creationId xmlns:a16="http://schemas.microsoft.com/office/drawing/2014/main" id="{61054665-AC6B-415D-A06B-C5FE5C53B614}"/>
              </a:ext>
            </a:extLst>
          </p:cNvPr>
          <p:cNvSpPr>
            <a:spLocks xmlns:a="http://schemas.openxmlformats.org/drawingml/2006/main" noGrp="1"/>
          </p:cNvSpPr>
          <p:nvPr/>
        </p:nvSpPr>
        <p:spPr>
          <a:xfrm xmlns:a="http://schemas.openxmlformats.org/drawingml/2006/main">
            <a:off x="609600" y="2095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FFFFFF"/>
                </a:solidFill>
                <a:latin typeface="Aptos"/>
                <a:ea typeface="Aptos"/>
                <a:cs typeface="Aptos"/>
              </a:defRPr>
            </a:defPPr>
          </a:lstStyle>
          <a:p xmlns:a="http://schemas.openxmlformats.org/drawingml/2006/main">
            <a:pPr>
              <a:defRPr sz="3900" b="1">
                <a:solidFill>
                  <a:srgbClr val="FFFFFF"/>
                </a:solidFill>
                <a:latin typeface="Aptos"/>
                <a:ea typeface="Aptos"/>
                <a:cs typeface="Aptos"/>
              </a:defRPr>
            </a:pPr>
            <a:r>
              <a:rPr sz="3900" b="1">
                <a:solidFill>
                  <a:srgbClr val="FFFFFF"/>
                </a:solidFill>
                <a:latin typeface="Aptos"/>
                <a:ea typeface="Aptos"/>
                <a:cs typeface="Aptos"/>
              </a:rPr>
              <a:t>Nén ảnh theo chất lượng cảm nhận</a:t>
            </a:r>
          </a:p>
        </p:txBody>
      </p:sp>
      <p:sp>
        <p:nvSpPr>
          <p:cNvPr id="4" name="">
            <a:extLst xmlns:a="http://schemas.openxmlformats.org/drawingml/2006/main">
              <a:ext uri="{FF2B5EF4-FFF2-40B4-BE49-F238E27FC236}">
                <a16:creationId xmlns:a16="http://schemas.microsoft.com/office/drawing/2014/main" id="{AFCFACC2-EF26-43A7-AE0B-38B086C563A7}"/>
              </a:ext>
            </a:extLst>
          </p:cNvPr>
          <p:cNvSpPr>
            <a:spLocks xmlns:a="http://schemas.openxmlformats.org/drawingml/2006/main" noGrp="1"/>
          </p:cNvSpPr>
          <p:nvPr/>
        </p:nvSpPr>
        <p:spPr>
          <a:xfrm xmlns:a="http://schemas.openxmlformats.org/drawingml/2006/main">
            <a:off x="609600" y="3333750"/>
            <a:ext cx="9810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B6CDD8"/>
                </a:solidFill>
                <a:latin typeface="Aptos"/>
                <a:ea typeface="Aptos"/>
                <a:cs typeface="Aptos"/>
              </a:defRPr>
            </a:defPPr>
          </a:lstStyle>
          <a:p xmlns:a="http://schemas.openxmlformats.org/drawingml/2006/main">
            <a:pPr>
              <a:defRPr sz="2550" b="0">
                <a:solidFill>
                  <a:srgbClr val="B6CDD8"/>
                </a:solidFill>
                <a:latin typeface="Aptos"/>
                <a:ea typeface="Aptos"/>
                <a:cs typeface="Aptos"/>
              </a:defRPr>
            </a:pPr>
            <a:r>
              <a:rPr sz="2550" b="0">
                <a:solidFill>
                  <a:srgbClr val="B6CDD8"/>
                </a:solidFill>
                <a:latin typeface="Aptos"/>
                <a:ea typeface="Aptos"/>
                <a:cs typeface="Aptos"/>
              </a:rPr>
              <a:t>Kiến trúc model, bằng chứng thực nghiệm</a:t>
            </a:r>
          </a:p>
          <a:p xmlns:a="http://schemas.openxmlformats.org/drawingml/2006/main">
            <a:pPr>
              <a:defRPr sz="2550" b="0">
                <a:solidFill>
                  <a:srgbClr val="B6CDD8"/>
                </a:solidFill>
                <a:latin typeface="Aptos"/>
                <a:ea typeface="Aptos"/>
                <a:cs typeface="Aptos"/>
              </a:defRPr>
            </a:pPr>
            <a:r>
              <a:rPr sz="2550" b="0">
                <a:solidFill>
                  <a:srgbClr val="B6CDD8"/>
                </a:solidFill>
                <a:latin typeface="Aptos"/>
                <a:ea typeface="Aptos"/>
                <a:cs typeface="Aptos"/>
              </a:rPr>
              <a:t>và kế hoạch nghiên cứu</a:t>
            </a:r>
          </a:p>
        </p:txBody>
      </p:sp>
      <p:sp>
        <p:nvSpPr>
          <p:cNvPr id="5" name="">
            <a:extLst xmlns:a="http://schemas.openxmlformats.org/drawingml/2006/main">
              <a:ext uri="{FF2B5EF4-FFF2-40B4-BE49-F238E27FC236}">
                <a16:creationId xmlns:a16="http://schemas.microsoft.com/office/drawing/2014/main" id="{1F530B6D-1A16-41A9-A77F-2FFE4DED6D5D}"/>
              </a:ext>
            </a:extLst>
          </p:cNvPr>
          <p:cNvSpPr>
            <a:spLocks xmlns:a="http://schemas.openxmlformats.org/drawingml/2006/main" noGrp="1"/>
          </p:cNvSpPr>
          <p:nvPr/>
        </p:nvSpPr>
        <p:spPr>
          <a:xfrm xmlns:a="http://schemas.openxmlformats.org/drawingml/2006/main">
            <a:off x="609600" y="5286375"/>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B6CDD8"/>
                </a:solidFill>
                <a:latin typeface="Aptos"/>
                <a:ea typeface="Aptos"/>
                <a:cs typeface="Aptos"/>
              </a:defRPr>
            </a:defPPr>
          </a:lstStyle>
          <a:p xmlns:a="http://schemas.openxmlformats.org/drawingml/2006/main">
            <a:pPr>
              <a:defRPr sz="1800" b="0">
                <a:solidFill>
                  <a:srgbClr val="B6CDD8"/>
                </a:solidFill>
                <a:latin typeface="Aptos"/>
                <a:ea typeface="Aptos"/>
                <a:cs typeface="Aptos"/>
              </a:defRPr>
            </a:pPr>
            <a:r>
              <a:rPr sz="1800" b="0">
                <a:solidFill>
                  <a:srgbClr val="B6CDD8"/>
                </a:solidFill>
                <a:latin typeface="Aptos"/>
                <a:ea typeface="Aptos"/>
                <a:cs typeface="Aptos"/>
              </a:rPr>
              <a:t>Báo cáo với thầy hướng dẫn</a:t>
            </a:r>
          </a:p>
          <a:p xmlns:a="http://schemas.openxmlformats.org/drawingml/2006/main">
            <a:pPr>
              <a:defRPr sz="1800" b="0">
                <a:solidFill>
                  <a:srgbClr val="B6CDD8"/>
                </a:solidFill>
                <a:latin typeface="Aptos"/>
                <a:ea typeface="Aptos"/>
                <a:cs typeface="Aptos"/>
              </a:defRPr>
            </a:pPr>
            <a:r>
              <a:rPr sz="1800" b="0">
                <a:solidFill>
                  <a:srgbClr val="B6CDD8"/>
                </a:solidFill>
                <a:latin typeface="Aptos"/>
                <a:ea typeface="Aptos"/>
                <a:cs typeface="Aptos"/>
              </a:rPr>
              <a:t>15 tháng 10 năm 2026</a:t>
            </a:r>
          </a:p>
        </p:txBody>
      </p:sp>
    </p:spTree>
    <p:extLst>
      <p:ext uri="{BB962C8B-B14F-4D97-AF65-F5344CB8AC3E}">
        <p14:creationId xmlns:p14="http://schemas.microsoft.com/office/powerpoint/2010/main" val="16860692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71D1B4EC-CA6D-495F-98FA-4BFBDE0A718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Nội dung trình bày</a:t>
            </a:r>
          </a:p>
        </p:txBody>
      </p:sp>
      <p:sp>
        <p:nvSpPr>
          <p:cNvPr id="2" name="">
            <a:extLst xmlns:a="http://schemas.openxmlformats.org/drawingml/2006/main">
              <a:ext uri="{FF2B5EF4-FFF2-40B4-BE49-F238E27FC236}">
                <a16:creationId xmlns:a16="http://schemas.microsoft.com/office/drawing/2014/main" id="{3DE4FABE-9F07-471B-B833-9D0F92B8E16D}"/>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02</a:t>
            </a:r>
          </a:p>
        </p:txBody>
      </p:sp>
      <p:graphicFrame>
        <p:nvGraphicFramePr>
          <p:cNvPr id="3" name="">
            <a:extLst xmlns:a="http://schemas.openxmlformats.org/drawingml/2006/main">
              <a:ext uri="{FF2B5EF4-FFF2-40B4-BE49-F238E27FC236}">
                <a16:creationId xmlns:a16="http://schemas.microsoft.com/office/drawing/2014/main" id="{36C34678-5B5C-47FE-9E55-820CB7EF0FB6}"/>
              </a:ext>
            </a:extLst>
          </p:cNvPr>
          <p:cNvGraphicFramePr/>
          <p:nvPr/>
        </p:nvGraphicFramePr>
        <p:xfrm>
          <a:off xmlns:a="http://schemas.openxmlformats.org/drawingml/2006/main" x="609600" y="1790700"/>
          <a:ext xmlns:a="http://schemas.openxmlformats.org/drawingml/2006/main" cx="10972800" cy="3714750"/>
        </p:xfrm>
        <a:graphic xmlns:a="http://schemas.openxmlformats.org/drawingml/2006/main">
          <a:graphicData uri="http://schemas.openxmlformats.org/drawingml/2006/table">
            <a:tbl>
              <a:tblPr/>
              <a:tblGrid>
                <a:gridCol w="1428750"/>
                <a:gridCol w="7620000"/>
                <a:gridCol w="1924050"/>
              </a:tblGrid>
              <a:tr h="619125">
                <a:tc>
                  <a:txBody>
                    <a:bodyPr/>
                    <a:lstStyle/>
                    <a:p>
                      <a:r>
                        <a:rPr sz="1875" b="1">
                          <a:solidFill>
                            <a:srgbClr val="FFFFFF"/>
                          </a:solidFill>
                          <a:latin typeface="Aptos"/>
                          <a:ea typeface="Aptos"/>
                          <a:cs typeface="Aptos"/>
                        </a:rPr>
                        <a:t>Phần</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Nội dung</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Thời lượng</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19125">
                <a:tc>
                  <a:txBody>
                    <a:bodyPr/>
                    <a:lstStyle/>
                    <a:p>
                      <a:r>
                        <a:rPr sz="1875" b="0">
                          <a:solidFill>
                            <a:srgbClr val="102B40"/>
                          </a:solidFill>
                          <a:latin typeface="Aptos"/>
                          <a:ea typeface="Aptos"/>
                          <a:cs typeface="Aptos"/>
                        </a:rPr>
                        <a:t>01</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Bài toán và cách đánh giá</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8 phút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75" b="0">
                          <a:solidFill>
                            <a:srgbClr val="102B40"/>
                          </a:solidFill>
                          <a:latin typeface="Aptos"/>
                          <a:ea typeface="Aptos"/>
                          <a:cs typeface="Aptos"/>
                        </a:rPr>
                        <a:t>02</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Cơ chế và kiến trúc model</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22 phút</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75" b="0">
                          <a:solidFill>
                            <a:srgbClr val="102B40"/>
                          </a:solidFill>
                          <a:latin typeface="Aptos"/>
                          <a:ea typeface="Aptos"/>
                          <a:cs typeface="Aptos"/>
                        </a:rPr>
                        <a:t>03</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Kết quả và khả năng triển khai</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13 phút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75" b="0">
                          <a:solidFill>
                            <a:srgbClr val="102B40"/>
                          </a:solidFill>
                          <a:latin typeface="Aptos"/>
                          <a:ea typeface="Aptos"/>
                          <a:cs typeface="Aptos"/>
                        </a:rPr>
                        <a:t>04</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Hướng nghiên cứu và kế hoạch</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7 phút</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75" b="0">
                          <a:solidFill>
                            <a:srgbClr val="102B40"/>
                          </a:solidFill>
                          <a:latin typeface="Aptos"/>
                          <a:ea typeface="Aptos"/>
                          <a:cs typeface="Aptos"/>
                        </a:rPr>
                        <a:t>05</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Thảo luận</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10 phút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bl>
          </a:graphicData>
        </a:graphic>
      </p:graphicFrame>
    </p:spTree>
    <p:extLst>
      <p:ext uri="{BB962C8B-B14F-4D97-AF65-F5344CB8AC3E}">
        <p14:creationId xmlns:p14="http://schemas.microsoft.com/office/powerpoint/2010/main" val="13076560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71EA8F-EC30-45D8-9F54-517F25670EEC}"/>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Bài toán CLIC 2027 Image GPU</a:t>
            </a:r>
          </a:p>
        </p:txBody>
      </p:sp>
      <p:sp>
        <p:nvSpPr>
          <p:cNvPr id="2" name="">
            <a:extLst xmlns:a="http://schemas.openxmlformats.org/drawingml/2006/main">
              <a:ext uri="{FF2B5EF4-FFF2-40B4-BE49-F238E27FC236}">
                <a16:creationId xmlns:a16="http://schemas.microsoft.com/office/drawing/2014/main" id="{6ED16205-B3B1-4A37-BF32-2F1F2421E2F6}"/>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03</a:t>
            </a:r>
          </a:p>
        </p:txBody>
      </p:sp>
      <p:graphicFrame>
        <p:nvGraphicFramePr>
          <p:cNvPr id="3" name="">
            <a:extLst xmlns:a="http://schemas.openxmlformats.org/drawingml/2006/main">
              <a:ext uri="{FF2B5EF4-FFF2-40B4-BE49-F238E27FC236}">
                <a16:creationId xmlns:a16="http://schemas.microsoft.com/office/drawing/2014/main" id="{8528BF26-D078-4F30-ACF0-ECEA787512BD}"/>
              </a:ext>
            </a:extLst>
          </p:cNvPr>
          <p:cNvGraphicFramePr/>
          <p:nvPr/>
        </p:nvGraphicFramePr>
        <p:xfrm>
          <a:off xmlns:a="http://schemas.openxmlformats.org/drawingml/2006/main" x="609600" y="1790700"/>
          <a:ext xmlns:a="http://schemas.openxmlformats.org/drawingml/2006/main" cx="10972800" cy="3714750"/>
        </p:xfrm>
        <a:graphic xmlns:a="http://schemas.openxmlformats.org/drawingml/2006/main">
          <a:graphicData uri="http://schemas.openxmlformats.org/drawingml/2006/table">
            <a:tbl>
              <a:tblPr/>
              <a:tblGrid>
                <a:gridCol w="3238500"/>
                <a:gridCol w="7734300"/>
              </a:tblGrid>
              <a:tr h="619125">
                <a:tc>
                  <a:txBody>
                    <a:bodyPr/>
                    <a:lstStyle/>
                    <a:p>
                      <a:r>
                        <a:rPr sz="1875" b="1">
                          <a:solidFill>
                            <a:srgbClr val="FFFFFF"/>
                          </a:solidFill>
                          <a:latin typeface="Aptos"/>
                          <a:ea typeface="Aptos"/>
                          <a:cs typeface="Aptos"/>
                        </a:rPr>
                        <a:t>Tiêu chí</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Yêu cầu</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19125">
                <a:tc>
                  <a:txBody>
                    <a:bodyPr/>
                    <a:lstStyle/>
                    <a:p>
                      <a:r>
                        <a:rPr sz="1875" b="0">
                          <a:solidFill>
                            <a:srgbClr val="102B40"/>
                          </a:solidFill>
                          <a:latin typeface="Aptos"/>
                          <a:ea typeface="Aptos"/>
                          <a:cs typeface="Aptos"/>
                        </a:rPr>
                        <a:t>Ngân sách bitrate</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0.075 / 0.15 / 0.3 bpp</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75" b="0">
                          <a:solidFill>
                            <a:srgbClr val="102B40"/>
                          </a:solidFill>
                          <a:latin typeface="Aptos"/>
                          <a:ea typeface="Aptos"/>
                          <a:cs typeface="Aptos"/>
                        </a:rPr>
                        <a:t>Chất lượng</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Người chấm so sánh cặp ảnh</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75" b="0">
                          <a:solidFill>
                            <a:srgbClr val="102B40"/>
                          </a:solidFill>
                          <a:latin typeface="Aptos"/>
                          <a:ea typeface="Aptos"/>
                          <a:cs typeface="Aptos"/>
                        </a:rPr>
                        <a:t>Máy giải mã</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L4 24 GB, 2 CPU, RAM 12 GB</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75" b="0">
                          <a:solidFill>
                            <a:srgbClr val="102B40"/>
                          </a:solidFill>
                          <a:latin typeface="Aptos"/>
                          <a:ea typeface="Aptos"/>
                          <a:cs typeface="Aptos"/>
                        </a:rPr>
                        <a:t>Gói decoder</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Tối đa 4 GB</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75" b="0">
                          <a:solidFill>
                            <a:srgbClr val="102B40"/>
                          </a:solidFill>
                          <a:latin typeface="Aptos"/>
                          <a:ea typeface="Aptos"/>
                          <a:cs typeface="Aptos"/>
                        </a:rPr>
                        <a:t>Điều kiện nhận giải</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25% bài chậm nhất không đủ điều kiện</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5689D68-CE29-4CE2-9FFB-BD82B485C74C}"/>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Tài nguyên nghiên cứu: 2 GPU L40, hạn mức 30 GB trên mỗi GPU.</a:t>
            </a:r>
          </a:p>
        </p:txBody>
      </p:sp>
    </p:spTree>
    <p:extLst>
      <p:ext uri="{BB962C8B-B14F-4D97-AF65-F5344CB8AC3E}">
        <p14:creationId xmlns:p14="http://schemas.microsoft.com/office/powerpoint/2010/main" val="17399421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21E2AB-D2C7-480B-A770-374A9F47B4AA}"/>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Chất lượng ảnh có hai khía cạnh</a:t>
            </a:r>
          </a:p>
        </p:txBody>
      </p:sp>
      <p:sp>
        <p:nvSpPr>
          <p:cNvPr id="2" name="">
            <a:extLst xmlns:a="http://schemas.openxmlformats.org/drawingml/2006/main">
              <a:ext uri="{FF2B5EF4-FFF2-40B4-BE49-F238E27FC236}">
                <a16:creationId xmlns:a16="http://schemas.microsoft.com/office/drawing/2014/main" id="{F81EF865-73F3-4C55-9E73-BE62643FBF6C}"/>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905B4BE7-E045-4C53-949F-84D89BF04697}"/>
              </a:ext>
            </a:extLst>
          </p:cNvPr>
          <p:cNvSpPr>
            <a:spLocks xmlns:a="http://schemas.openxmlformats.org/drawingml/2006/main" noGrp="1"/>
          </p:cNvSpPr>
          <p:nvPr/>
        </p:nvSpPr>
        <p:spPr>
          <a:xfrm xmlns:a="http://schemas.openxmlformats.org/drawingml/2006/main">
            <a:off x="609600" y="17621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Trung thực với ảnh gốc</a:t>
            </a:r>
          </a:p>
        </p:txBody>
      </p:sp>
      <p:sp>
        <p:nvSpPr>
          <p:cNvPr id="4" name="">
            <a:extLst xmlns:a="http://schemas.openxmlformats.org/drawingml/2006/main">
              <a:ext uri="{FF2B5EF4-FFF2-40B4-BE49-F238E27FC236}">
                <a16:creationId xmlns:a16="http://schemas.microsoft.com/office/drawing/2014/main" id="{DA79C533-4914-4CAE-A0E2-DA5F8406419E}"/>
              </a:ext>
            </a:extLst>
          </p:cNvPr>
          <p:cNvSpPr>
            <a:spLocks xmlns:a="http://schemas.openxmlformats.org/drawingml/2006/main" noGrp="1"/>
          </p:cNvSpPr>
          <p:nvPr/>
        </p:nvSpPr>
        <p:spPr>
          <a:xfrm xmlns:a="http://schemas.openxmlformats.org/drawingml/2006/main">
            <a:off x="6438900" y="17621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Tự nhiên khi quan sát</a:t>
            </a:r>
          </a:p>
        </p:txBody>
      </p:sp>
      <p:sp>
        <p:nvSpPr>
          <p:cNvPr id="5" name="">
            <a:extLst xmlns:a="http://schemas.openxmlformats.org/drawingml/2006/main">
              <a:ext uri="{FF2B5EF4-FFF2-40B4-BE49-F238E27FC236}">
                <a16:creationId xmlns:a16="http://schemas.microsoft.com/office/drawing/2014/main" id="{8E04118D-B36B-44CF-9AD6-3B4980FCE59B}"/>
              </a:ext>
            </a:extLst>
          </p:cNvPr>
          <p:cNvSpPr>
            <a:spLocks xmlns:a="http://schemas.openxmlformats.org/drawingml/2006/main" noGrp="1"/>
          </p:cNvSpPr>
          <p:nvPr/>
        </p:nvSpPr>
        <p:spPr>
          <a:xfrm xmlns:a="http://schemas.openxmlformats.org/drawingml/2006/main">
            <a:off x="609600" y="2447925"/>
            <a:ext cx="50101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Sai số pixel, cấu trúc, chữ và khuôn mặt.</a:t>
            </a:r>
          </a:p>
          <a:p xmlns:a="http://schemas.openxmlformats.org/drawingml/2006/main">
            <a:r>
              <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PSNR, MS-SSIM, LPIPS, DISTS phản ánh các khía cạnh khác nhau.</a:t>
            </a:r>
          </a:p>
        </p:txBody>
      </p:sp>
      <p:sp>
        <p:nvSpPr>
          <p:cNvPr id="6" name="">
            <a:extLst xmlns:a="http://schemas.openxmlformats.org/drawingml/2006/main">
              <a:ext uri="{FF2B5EF4-FFF2-40B4-BE49-F238E27FC236}">
                <a16:creationId xmlns:a16="http://schemas.microsoft.com/office/drawing/2014/main" id="{6538874F-BC59-4571-881C-03CB001D9E84}"/>
              </a:ext>
            </a:extLst>
          </p:cNvPr>
          <p:cNvSpPr>
            <a:spLocks xmlns:a="http://schemas.openxmlformats.org/drawingml/2006/main" noGrp="1"/>
          </p:cNvSpPr>
          <p:nvPr/>
        </p:nvSpPr>
        <p:spPr>
          <a:xfrm xmlns:a="http://schemas.openxmlformats.org/drawingml/2006/main">
            <a:off x="6438900" y="2447925"/>
            <a:ext cx="51054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Texture và phân phối chi tiết có vẻ hợp lý.</a:t>
            </a:r>
          </a:p>
          <a:p xmlns:a="http://schemas.openxmlformats.org/drawingml/2006/main">
            <a:r>
              <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Prior sinh ảnh có thể phục hồi texture, nhưng cũng có thể tạo chi tiết sai.</a:t>
            </a:r>
          </a:p>
        </p:txBody>
      </p:sp>
      <p:sp>
        <p:nvSpPr>
          <p:cNvPr id="7" name="">
            <a:extLst xmlns:a="http://schemas.openxmlformats.org/drawingml/2006/main">
              <a:ext uri="{FF2B5EF4-FFF2-40B4-BE49-F238E27FC236}">
                <a16:creationId xmlns:a16="http://schemas.microsoft.com/office/drawing/2014/main" id="{656CBD2D-7ECB-4C6B-8E87-C74B4514DBAF}"/>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Bài toán nghiên cứu: chọn đúng trade-off tại cùng số byte truyền.</a:t>
            </a:r>
          </a:p>
        </p:txBody>
      </p:sp>
    </p:spTree>
    <p:extLst>
      <p:ext uri="{BB962C8B-B14F-4D97-AF65-F5344CB8AC3E}">
        <p14:creationId xmlns:p14="http://schemas.microsoft.com/office/powerpoint/2010/main" val="60724826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43E85A0-FB32-49AF-B842-083D5C9DC962}"/>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Pipeline đánh giá của dự án</a:t>
            </a:r>
          </a:p>
        </p:txBody>
      </p:sp>
      <p:sp>
        <p:nvSpPr>
          <p:cNvPr id="2" name="">
            <a:extLst xmlns:a="http://schemas.openxmlformats.org/drawingml/2006/main">
              <a:ext uri="{FF2B5EF4-FFF2-40B4-BE49-F238E27FC236}">
                <a16:creationId xmlns:a16="http://schemas.microsoft.com/office/drawing/2014/main" id="{9D242504-3344-4D6D-891F-417F0DF135DD}"/>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05</a:t>
            </a:r>
          </a:p>
        </p:txBody>
      </p:sp>
      <p:graphicFrame>
        <p:nvGraphicFramePr>
          <p:cNvPr id="3" name="">
            <a:extLst xmlns:a="http://schemas.openxmlformats.org/drawingml/2006/main">
              <a:ext uri="{FF2B5EF4-FFF2-40B4-BE49-F238E27FC236}">
                <a16:creationId xmlns:a16="http://schemas.microsoft.com/office/drawing/2014/main" id="{0C379846-E77A-4711-BE28-AE3A77945F23}"/>
              </a:ext>
            </a:extLst>
          </p:cNvPr>
          <p:cNvGraphicFramePr/>
          <p:nvPr/>
        </p:nvGraphicFramePr>
        <p:xfrm>
          <a:off xmlns:a="http://schemas.openxmlformats.org/drawingml/2006/main" x="609600" y="1790700"/>
          <a:ext xmlns:a="http://schemas.openxmlformats.org/drawingml/2006/main" cx="10972800" cy="3714750"/>
        </p:xfrm>
        <a:graphic xmlns:a="http://schemas.openxmlformats.org/drawingml/2006/main">
          <a:graphicData uri="http://schemas.openxmlformats.org/drawingml/2006/table">
            <a:tbl>
              <a:tblPr/>
              <a:tblGrid>
                <a:gridCol w="3238500"/>
                <a:gridCol w="7734300"/>
              </a:tblGrid>
              <a:tr h="619125">
                <a:tc>
                  <a:txBody>
                    <a:bodyPr/>
                    <a:lstStyle/>
                    <a:p>
                      <a:r>
                        <a:rPr sz="1875" b="1">
                          <a:solidFill>
                            <a:srgbClr val="FFFFFF"/>
                          </a:solidFill>
                          <a:latin typeface="Aptos"/>
                          <a:ea typeface="Aptos"/>
                          <a:cs typeface="Aptos"/>
                        </a:rPr>
                        <a:t>Bước</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Đầu vào và đầu ra</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19125">
                <a:tc>
                  <a:txBody>
                    <a:bodyPr/>
                    <a:lstStyle/>
                    <a:p>
                      <a:r>
                        <a:rPr sz="1875" b="0">
                          <a:solidFill>
                            <a:srgbClr val="102B40"/>
                          </a:solidFill>
                          <a:latin typeface="Aptos"/>
                          <a:ea typeface="Aptos"/>
                          <a:cs typeface="Aptos"/>
                        </a:rPr>
                        <a:t>1. Học Q̂</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Preference lịch sử và metric của cặp ảnh</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75" b="0">
                          <a:solidFill>
                            <a:srgbClr val="102B40"/>
                          </a:solidFill>
                          <a:latin typeface="Aptos"/>
                          <a:ea typeface="Aptos"/>
                          <a:cs typeface="Aptos"/>
                        </a:rPr>
                        <a:t>2. Tạo điểm RD</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Encode, decode, lưu stream và đo từng quality</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75" b="0">
                          <a:solidFill>
                            <a:srgbClr val="102B40"/>
                          </a:solidFill>
                          <a:latin typeface="Aptos"/>
                          <a:ea typeface="Aptos"/>
                          <a:cs typeface="Aptos"/>
                        </a:rPr>
                        <a:t>3. Phân bổ byte</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Chọn codec và quality cho từng ảnh</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75" b="0">
                          <a:solidFill>
                            <a:srgbClr val="102B40"/>
                          </a:solidFill>
                          <a:latin typeface="Aptos"/>
                          <a:ea typeface="Aptos"/>
                          <a:cs typeface="Aptos"/>
                        </a:rPr>
                        <a:t>4. Xác nhận chất lượng</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Chấm mù, phân tích từng nhóm nội dung</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75" b="0">
                          <a:solidFill>
                            <a:srgbClr val="102B40"/>
                          </a:solidFill>
                          <a:latin typeface="Aptos"/>
                          <a:ea typeface="Aptos"/>
                          <a:cs typeface="Aptos"/>
                        </a:rPr>
                        <a:t>5. Kiểm triển khai</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Gói offline, thời gian, bộ nhớ và parity</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bl>
          </a:graphicData>
        </a:graphic>
      </p:graphicFrame>
    </p:spTree>
    <p:extLst>
      <p:ext uri="{BB962C8B-B14F-4D97-AF65-F5344CB8AC3E}">
        <p14:creationId xmlns:p14="http://schemas.microsoft.com/office/powerpoint/2010/main" val="70944353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0A151A-D79E-4B80-9936-34FDAE3ED94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Q̂ học thứ tự preference từ nhiều metric</a:t>
            </a:r>
          </a:p>
        </p:txBody>
      </p:sp>
      <p:sp>
        <p:nvSpPr>
          <p:cNvPr id="2" name="">
            <a:extLst xmlns:a="http://schemas.openxmlformats.org/drawingml/2006/main">
              <a:ext uri="{FF2B5EF4-FFF2-40B4-BE49-F238E27FC236}">
                <a16:creationId xmlns:a16="http://schemas.microsoft.com/office/drawing/2014/main" id="{F3A4541A-80BB-44A8-AD3E-23BFC2C96E6B}"/>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06</a:t>
            </a:r>
          </a:p>
        </p:txBody>
      </p:sp>
      <p:sp>
        <p:nvSpPr>
          <p:cNvPr id="3" name="">
            <a:extLst xmlns:a="http://schemas.openxmlformats.org/drawingml/2006/main">
              <a:ext uri="{FF2B5EF4-FFF2-40B4-BE49-F238E27FC236}">
                <a16:creationId xmlns:a16="http://schemas.microsoft.com/office/drawing/2014/main" id="{AC296C2F-845D-4A69-93CD-DE541E0B1EBA}"/>
              </a:ext>
            </a:extLst>
          </p:cNvPr>
          <p:cNvSpPr>
            <a:spLocks xmlns:a="http://schemas.openxmlformats.org/drawingml/2006/main" noGrp="1"/>
          </p:cNvSpPr>
          <p:nvPr/>
        </p:nvSpPr>
        <p:spPr>
          <a:xfrm xmlns:a="http://schemas.openxmlformats.org/drawingml/2006/main">
            <a:off x="609600" y="1809750"/>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07F78"/>
                </a:solidFill>
                <a:latin typeface="Aptos"/>
                <a:ea typeface="Aptos"/>
                <a:cs typeface="Aptos"/>
              </a:defRPr>
            </a:defPPr>
          </a:lstStyle>
          <a:p xmlns:a="http://schemas.openxmlformats.org/drawingml/2006/main">
            <a:pPr>
              <a:defRPr sz="2850" b="1">
                <a:solidFill>
                  <a:srgbClr val="007F78"/>
                </a:solidFill>
                <a:latin typeface="Aptos"/>
                <a:ea typeface="Aptos"/>
                <a:cs typeface="Aptos"/>
              </a:defRPr>
            </a:pPr>
            <a:r>
              <a:rPr sz="2850" b="1">
                <a:solidFill>
                  <a:srgbClr val="007F78"/>
                </a:solidFill>
                <a:latin typeface="Aptos"/>
                <a:ea typeface="Aptos"/>
                <a:cs typeface="Aptos"/>
              </a:rPr>
              <a:t>P(i được thích hơn j) = sigmoid(β + sᵢ − sⱼ)</a:t>
            </a:r>
          </a:p>
        </p:txBody>
      </p:sp>
      <p:sp>
        <p:nvSpPr>
          <p:cNvPr id="4" name="">
            <a:extLst xmlns:a="http://schemas.openxmlformats.org/drawingml/2006/main">
              <a:ext uri="{FF2B5EF4-FFF2-40B4-BE49-F238E27FC236}">
                <a16:creationId xmlns:a16="http://schemas.microsoft.com/office/drawing/2014/main" id="{CA310A3C-5E46-4579-8497-25858B1736B1}"/>
              </a:ext>
            </a:extLst>
          </p:cNvPr>
          <p:cNvSpPr>
            <a:spLocks xmlns:a="http://schemas.openxmlformats.org/drawingml/2006/main" noGrp="1"/>
          </p:cNvSpPr>
          <p:nvPr/>
        </p:nvSpPr>
        <p:spPr>
          <a:xfrm xmlns:a="http://schemas.openxmlformats.org/drawingml/2006/main">
            <a:off x="609600" y="28765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102B40"/>
                </a:solidFill>
                <a:latin typeface="Aptos"/>
                <a:ea typeface="Aptos"/>
                <a:cs typeface="Aptos"/>
              </a:defRPr>
            </a:defPPr>
          </a:lstStyle>
          <a:p xmlns:a="http://schemas.openxmlformats.org/drawingml/2006/main">
            <a:pPr>
              <a:defRPr sz="2625" b="0">
                <a:solidFill>
                  <a:srgbClr val="102B40"/>
                </a:solidFill>
                <a:latin typeface="Aptos"/>
                <a:ea typeface="Aptos"/>
                <a:cs typeface="Aptos"/>
              </a:defRPr>
            </a:pPr>
            <a:r>
              <a:rPr sz="2625" b="0">
                <a:solidFill>
                  <a:srgbClr val="102B40"/>
                </a:solidFill>
                <a:latin typeface="Aptos"/>
                <a:ea typeface="Aptos"/>
                <a:cs typeface="Aptos"/>
              </a:rPr>
              <a:t>sᵢ = Q̂(xᵢ, x̂ᵢ) = Σₖ wₖ Tₖ(metricₖ)</a:t>
            </a:r>
          </a:p>
        </p:txBody>
      </p:sp>
      <p:sp>
        <p:nvSpPr>
          <p:cNvPr id="5" name="">
            <a:extLst xmlns:a="http://schemas.openxmlformats.org/drawingml/2006/main">
              <a:ext uri="{FF2B5EF4-FFF2-40B4-BE49-F238E27FC236}">
                <a16:creationId xmlns:a16="http://schemas.microsoft.com/office/drawing/2014/main" id="{C7442B79-14A2-4E9C-B323-F4901CCE62DF}"/>
              </a:ext>
            </a:extLst>
          </p:cNvPr>
          <p:cNvSpPr>
            <a:spLocks xmlns:a="http://schemas.openxmlformats.org/drawingml/2006/main" noGrp="1"/>
          </p:cNvSpPr>
          <p:nvPr/>
        </p:nvSpPr>
        <p:spPr>
          <a:xfrm xmlns:a="http://schemas.openxmlformats.org/drawingml/2006/main">
            <a:off x="609600" y="41433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B40"/>
                </a:solidFill>
                <a:latin typeface="Aptos"/>
                <a:ea typeface="Aptos"/>
                <a:cs typeface="Aptos"/>
              </a:defRPr>
            </a:defPPr>
          </a:lstStyle>
          <a:p xmlns:a="http://schemas.openxmlformats.org/drawingml/2006/main">
            <a:pPr>
              <a:defRPr sz="2025" b="0">
                <a:solidFill>
                  <a:srgbClr val="102B40"/>
                </a:solidFill>
                <a:latin typeface="Aptos"/>
                <a:ea typeface="Aptos"/>
                <a:cs typeface="Aptos"/>
              </a:defRPr>
            </a:pPr>
            <a:r>
              <a:rPr sz="2025" b="0">
                <a:solidFill>
                  <a:srgbClr val="102B40"/>
                </a:solidFill>
                <a:latin typeface="Aptos"/>
                <a:ea typeface="Aptos"/>
                <a:cs typeface="Aptos"/>
              </a:rPr>
              <a:t>Metric đầu vào: PSNR, MS-SSIM, LPIPS, DISTS, CLIP-IQA.</a:t>
            </a:r>
          </a:p>
        </p:txBody>
      </p:sp>
      <p:sp>
        <p:nvSpPr>
          <p:cNvPr id="6" name="">
            <a:extLst xmlns:a="http://schemas.openxmlformats.org/drawingml/2006/main">
              <a:ext uri="{FF2B5EF4-FFF2-40B4-BE49-F238E27FC236}">
                <a16:creationId xmlns:a16="http://schemas.microsoft.com/office/drawing/2014/main" id="{169D717C-91EA-4E8A-B57F-C1BAFE30AC59}"/>
              </a:ext>
            </a:extLst>
          </p:cNvPr>
          <p:cNvSpPr>
            <a:spLocks xmlns:a="http://schemas.openxmlformats.org/drawingml/2006/main" noGrp="1"/>
          </p:cNvSpPr>
          <p:nvPr/>
        </p:nvSpPr>
        <p:spPr>
          <a:xfrm xmlns:a="http://schemas.openxmlformats.org/drawingml/2006/main">
            <a:off x="609600" y="49053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02B40"/>
                </a:solidFill>
                <a:latin typeface="Aptos"/>
                <a:ea typeface="Aptos"/>
                <a:cs typeface="Aptos"/>
              </a:defRPr>
            </a:defPPr>
          </a:lstStyle>
          <a:p xmlns:a="http://schemas.openxmlformats.org/drawingml/2006/main">
            <a:pPr>
              <a:defRPr sz="2025" b="0">
                <a:solidFill>
                  <a:srgbClr val="102B40"/>
                </a:solidFill>
                <a:latin typeface="Aptos"/>
                <a:ea typeface="Aptos"/>
                <a:cs typeface="Aptos"/>
              </a:defRPr>
            </a:pPr>
            <a:r>
              <a:rPr sz="2025" b="0">
                <a:solidFill>
                  <a:srgbClr val="102B40"/>
                </a:solidFill>
                <a:latin typeface="Aptos"/>
                <a:ea typeface="Aptos"/>
                <a:cs typeface="Aptos"/>
              </a:rPr>
              <a:t>Dữ liệu preference từ CLIC 2021, 2022 và 2024.</a:t>
            </a:r>
          </a:p>
        </p:txBody>
      </p:sp>
      <p:sp>
        <p:nvSpPr>
          <p:cNvPr id="7" name="">
            <a:extLst xmlns:a="http://schemas.openxmlformats.org/drawingml/2006/main">
              <a:ext uri="{FF2B5EF4-FFF2-40B4-BE49-F238E27FC236}">
                <a16:creationId xmlns:a16="http://schemas.microsoft.com/office/drawing/2014/main" id="{37617F4C-6BD9-4896-AAFA-479903D3BE51}"/>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Q̂ không phải phần trăm chất lượng và không có mốc 0 tuyệt đối.</a:t>
            </a:r>
          </a:p>
        </p:txBody>
      </p:sp>
    </p:spTree>
    <p:extLst>
      <p:ext uri="{BB962C8B-B14F-4D97-AF65-F5344CB8AC3E}">
        <p14:creationId xmlns:p14="http://schemas.microsoft.com/office/powerpoint/2010/main" val="199898084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012AD4-AE32-4B2F-8F99-AC253B37877C}"/>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Q̂ có tín hiệu tốt trên phép kiểm cross-year</a:t>
            </a:r>
          </a:p>
        </p:txBody>
      </p:sp>
      <p:sp>
        <p:nvSpPr>
          <p:cNvPr id="2" name="">
            <a:extLst xmlns:a="http://schemas.openxmlformats.org/drawingml/2006/main">
              <a:ext uri="{FF2B5EF4-FFF2-40B4-BE49-F238E27FC236}">
                <a16:creationId xmlns:a16="http://schemas.microsoft.com/office/drawing/2014/main" id="{EB74B98E-FFDF-4877-852D-06BB186762FA}"/>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07</a:t>
            </a:r>
          </a:p>
        </p:txBody>
      </p:sp>
      <p:graphicFrame>
        <p:nvGraphicFramePr>
          <p:cNvPr id="3" name="Chart">
            <a:extLst xmlns:a="http://schemas.openxmlformats.org/drawingml/2006/main">
              <a:ext uri="{FF2B5EF4-FFF2-40B4-BE49-F238E27FC236}">
                <a16:creationId xmlns:a16="http://schemas.microsoft.com/office/drawing/2014/main" id="{96DEF048-2EF9-4423-888F-F95B8C8837DC}"/>
              </a:ext>
            </a:extLst>
          </p:cNvPr>
          <p:cNvGraphicFramePr/>
          <p:nvPr/>
        </p:nvGraphicFramePr>
        <p:xfrm>
          <a:off xmlns:a="http://schemas.openxmlformats.org/drawingml/2006/main" x="609600" y="1695450"/>
          <a:ext xmlns:a="http://schemas.openxmlformats.org/drawingml/2006/main" cx="10782300" cy="3667125"/>
        </p:xfrm>
        <a:graphic xmlns:a="http://schemas.openxmlformats.org/drawingml/2006/main">
          <a:graphicData uri="http://schemas.openxmlformats.org/drawingml/2006/chart">
            <c:chart xmlns:r="http://schemas.openxmlformats.org/officeDocument/2006/relationships" xmlns:c="http://schemas.openxmlformats.org/drawingml/2006/chart" r:id="R83b47d4d97cd49cb"/>
          </a:graphicData>
        </a:graphic>
      </p:graphicFrame>
      <p:sp>
        <p:nvSpPr>
          <p:cNvPr id="4" name="">
            <a:extLst xmlns:a="http://schemas.openxmlformats.org/drawingml/2006/main">
              <a:ext uri="{FF2B5EF4-FFF2-40B4-BE49-F238E27FC236}">
                <a16:creationId xmlns:a16="http://schemas.microsoft.com/office/drawing/2014/main" id="{51A6DF7B-A103-42DC-B3DF-588D1FA3B2EA}"/>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Test: 2024t. Chưa phải độ chính xác preference trên CLIC 2027.</a:t>
            </a:r>
          </a:p>
        </p:txBody>
      </p:sp>
    </p:spTree>
    <p:extLst>
      <p:ext uri="{BB962C8B-B14F-4D97-AF65-F5344CB8AC3E}">
        <p14:creationId xmlns:p14="http://schemas.microsoft.com/office/powerpoint/2010/main" val="41738970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11D7F36-0698-44EA-A0E1-3139B8CF02F0}"/>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So sánh công bằng dưới ngân sách byte</a:t>
            </a:r>
          </a:p>
        </p:txBody>
      </p:sp>
      <p:sp>
        <p:nvSpPr>
          <p:cNvPr id="2" name="">
            <a:extLst xmlns:a="http://schemas.openxmlformats.org/drawingml/2006/main">
              <a:ext uri="{FF2B5EF4-FFF2-40B4-BE49-F238E27FC236}">
                <a16:creationId xmlns:a16="http://schemas.microsoft.com/office/drawing/2014/main" id="{C98229A1-C0E5-48F5-A06F-E9755F840DC6}"/>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08</a:t>
            </a:r>
          </a:p>
        </p:txBody>
      </p:sp>
      <p:sp>
        <p:nvSpPr>
          <p:cNvPr id="3" name="">
            <a:extLst xmlns:a="http://schemas.openxmlformats.org/drawingml/2006/main">
              <a:ext uri="{FF2B5EF4-FFF2-40B4-BE49-F238E27FC236}">
                <a16:creationId xmlns:a16="http://schemas.microsoft.com/office/drawing/2014/main" id="{9517C592-C277-49FC-956A-3CFA2D5EC7A5}"/>
              </a:ext>
            </a:extLst>
          </p:cNvPr>
          <p:cNvSpPr>
            <a:spLocks xmlns:a="http://schemas.openxmlformats.org/drawingml/2006/main" noGrp="1"/>
          </p:cNvSpPr>
          <p:nvPr/>
        </p:nvSpPr>
        <p:spPr>
          <a:xfrm xmlns:a="http://schemas.openxmlformats.org/drawingml/2006/main">
            <a:off x="609600" y="1809750"/>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007F78"/>
                </a:solidFill>
                <a:latin typeface="Aptos"/>
                <a:ea typeface="Aptos"/>
                <a:cs typeface="Aptos"/>
              </a:defRPr>
            </a:defPPr>
          </a:lstStyle>
          <a:p xmlns:a="http://schemas.openxmlformats.org/drawingml/2006/main">
            <a:pPr>
              <a:defRPr sz="2850" b="1">
                <a:solidFill>
                  <a:srgbClr val="007F78"/>
                </a:solidFill>
                <a:latin typeface="Aptos"/>
                <a:ea typeface="Aptos"/>
                <a:cs typeface="Aptos"/>
              </a:defRPr>
            </a:pPr>
            <a:r>
              <a:rPr sz="2850" b="1">
                <a:solidFill>
                  <a:srgbClr val="007F78"/>
                </a:solidFill>
                <a:latin typeface="Aptos"/>
                <a:ea typeface="Aptos"/>
                <a:cs typeface="Aptos"/>
              </a:rPr>
              <a:t>bpp = 8 × tổng byte stream / tổng số pixel</a:t>
            </a:r>
          </a:p>
        </p:txBody>
      </p:sp>
      <p:sp>
        <p:nvSpPr>
          <p:cNvPr id="4" name="">
            <a:extLst xmlns:a="http://schemas.openxmlformats.org/drawingml/2006/main">
              <a:ext uri="{FF2B5EF4-FFF2-40B4-BE49-F238E27FC236}">
                <a16:creationId xmlns:a16="http://schemas.microsoft.com/office/drawing/2014/main" id="{44A26C22-146A-46D5-8522-34347E9DAE29}"/>
              </a:ext>
            </a:extLst>
          </p:cNvPr>
          <p:cNvSpPr>
            <a:spLocks xmlns:a="http://schemas.openxmlformats.org/drawingml/2006/main" noGrp="1"/>
          </p:cNvSpPr>
          <p:nvPr/>
        </p:nvSpPr>
        <p:spPr>
          <a:xfrm xmlns:a="http://schemas.openxmlformats.org/drawingml/2006/main">
            <a:off x="609600" y="30480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B40"/>
                </a:solidFill>
                <a:latin typeface="Aptos"/>
                <a:ea typeface="Aptos"/>
                <a:cs typeface="Aptos"/>
              </a:defRPr>
            </a:defPPr>
          </a:lstStyle>
          <a:p xmlns:a="http://schemas.openxmlformats.org/drawingml/2006/main">
            <a:pPr>
              <a:defRPr sz="2175" b="0">
                <a:solidFill>
                  <a:srgbClr val="102B40"/>
                </a:solidFill>
                <a:latin typeface="Aptos"/>
                <a:ea typeface="Aptos"/>
                <a:cs typeface="Aptos"/>
              </a:defRPr>
            </a:pPr>
            <a:r>
              <a:rPr sz="2175" b="0">
                <a:solidFill>
                  <a:srgbClr val="102B40"/>
                </a:solidFill>
                <a:latin typeface="Aptos"/>
                <a:ea typeface="Aptos"/>
                <a:cs typeface="Aptos"/>
              </a:rPr>
              <a:t>Cùng ảnh, cùng budget toàn tập và cùng Q̂ v0.</a:t>
            </a:r>
          </a:p>
        </p:txBody>
      </p:sp>
      <p:sp>
        <p:nvSpPr>
          <p:cNvPr id="5" name="">
            <a:extLst xmlns:a="http://schemas.openxmlformats.org/drawingml/2006/main">
              <a:ext uri="{FF2B5EF4-FFF2-40B4-BE49-F238E27FC236}">
                <a16:creationId xmlns:a16="http://schemas.microsoft.com/office/drawing/2014/main" id="{41112104-27F1-413A-B989-66550EE6431D}"/>
              </a:ext>
            </a:extLst>
          </p:cNvPr>
          <p:cNvSpPr>
            <a:spLocks xmlns:a="http://schemas.openxmlformats.org/drawingml/2006/main" noGrp="1"/>
          </p:cNvSpPr>
          <p:nvPr/>
        </p:nvSpPr>
        <p:spPr>
          <a:xfrm xmlns:a="http://schemas.openxmlformats.org/drawingml/2006/main">
            <a:off x="609600" y="39052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B40"/>
                </a:solidFill>
                <a:latin typeface="Aptos"/>
                <a:ea typeface="Aptos"/>
                <a:cs typeface="Aptos"/>
              </a:defRPr>
            </a:defPPr>
          </a:lstStyle>
          <a:p xmlns:a="http://schemas.openxmlformats.org/drawingml/2006/main">
            <a:pPr>
              <a:defRPr sz="2175" b="0">
                <a:solidFill>
                  <a:srgbClr val="102B40"/>
                </a:solidFill>
                <a:latin typeface="Aptos"/>
                <a:ea typeface="Aptos"/>
                <a:cs typeface="Aptos"/>
              </a:defRPr>
            </a:pPr>
            <a:r>
              <a:rPr sz="2175" b="0">
                <a:solidFill>
                  <a:srgbClr val="102B40"/>
                </a:solidFill>
                <a:latin typeface="Aptos"/>
                <a:ea typeface="Aptos"/>
                <a:cs typeface="Aptos"/>
              </a:rPr>
              <a:t>Lưu revision, checkpoint, quality và checksum cho mỗi điểm.</a:t>
            </a:r>
          </a:p>
        </p:txBody>
      </p:sp>
      <p:sp>
        <p:nvSpPr>
          <p:cNvPr id="6" name="">
            <a:extLst xmlns:a="http://schemas.openxmlformats.org/drawingml/2006/main">
              <a:ext uri="{FF2B5EF4-FFF2-40B4-BE49-F238E27FC236}">
                <a16:creationId xmlns:a16="http://schemas.microsoft.com/office/drawing/2014/main" id="{D5637504-4F30-469F-8049-716D069DC156}"/>
              </a:ext>
            </a:extLst>
          </p:cNvPr>
          <p:cNvSpPr>
            <a:spLocks xmlns:a="http://schemas.openxmlformats.org/drawingml/2006/main" noGrp="1"/>
          </p:cNvSpPr>
          <p:nvPr/>
        </p:nvSpPr>
        <p:spPr>
          <a:xfrm xmlns:a="http://schemas.openxmlformats.org/drawingml/2006/main">
            <a:off x="609600" y="476250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102B40"/>
                </a:solidFill>
                <a:latin typeface="Aptos"/>
                <a:ea typeface="Aptos"/>
                <a:cs typeface="Aptos"/>
              </a:defRPr>
            </a:defPPr>
          </a:lstStyle>
          <a:p xmlns:a="http://schemas.openxmlformats.org/drawingml/2006/main">
            <a:pPr>
              <a:defRPr sz="2175" b="0">
                <a:solidFill>
                  <a:srgbClr val="102B40"/>
                </a:solidFill>
                <a:latin typeface="Aptos"/>
                <a:ea typeface="Aptos"/>
                <a:cs typeface="Aptos"/>
              </a:defRPr>
            </a:pPr>
            <a:r>
              <a:rPr sz="2175" b="0">
                <a:solidFill>
                  <a:srgbClr val="102B40"/>
                </a:solidFill>
                <a:latin typeface="Aptos"/>
                <a:ea typeface="Aptos"/>
                <a:cs typeface="Aptos"/>
              </a:rPr>
              <a:t>Tách metric chất lượng khỏi tốc độ, bộ nhớ và kích thước gói.</a:t>
            </a:r>
          </a:p>
        </p:txBody>
      </p:sp>
      <p:sp>
        <p:nvSpPr>
          <p:cNvPr id="7" name="">
            <a:extLst xmlns:a="http://schemas.openxmlformats.org/drawingml/2006/main">
              <a:ext uri="{FF2B5EF4-FFF2-40B4-BE49-F238E27FC236}">
                <a16:creationId xmlns:a16="http://schemas.microsoft.com/office/drawing/2014/main" id="{A6EF8525-A957-49BF-8DE1-3B01207C89FC}"/>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Cùng budget toàn tập không có nghĩa mọi cặp ảnh có cùng bpp.</a:t>
            </a:r>
          </a:p>
        </p:txBody>
      </p:sp>
    </p:spTree>
    <p:extLst>
      <p:ext uri="{BB962C8B-B14F-4D97-AF65-F5344CB8AC3E}">
        <p14:creationId xmlns:p14="http://schemas.microsoft.com/office/powerpoint/2010/main" val="99019050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01C59BF-0E37-4CBC-92BA-4D323DF7C7F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Bản đồ các họ mô hình</a:t>
            </a:r>
          </a:p>
        </p:txBody>
      </p:sp>
      <p:sp>
        <p:nvSpPr>
          <p:cNvPr id="2" name="">
            <a:extLst xmlns:a="http://schemas.openxmlformats.org/drawingml/2006/main">
              <a:ext uri="{FF2B5EF4-FFF2-40B4-BE49-F238E27FC236}">
                <a16:creationId xmlns:a16="http://schemas.microsoft.com/office/drawing/2014/main" id="{B5A28606-197F-4993-8388-026DCC70C7CE}"/>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09</a:t>
            </a:r>
          </a:p>
        </p:txBody>
      </p:sp>
      <p:graphicFrame>
        <p:nvGraphicFramePr>
          <p:cNvPr id="3" name="">
            <a:extLst xmlns:a="http://schemas.openxmlformats.org/drawingml/2006/main">
              <a:ext uri="{FF2B5EF4-FFF2-40B4-BE49-F238E27FC236}">
                <a16:creationId xmlns:a16="http://schemas.microsoft.com/office/drawing/2014/main" id="{7C7D3902-F5DC-4A30-A9DB-4B532382534E}"/>
              </a:ext>
            </a:extLst>
          </p:cNvPr>
          <p:cNvGraphicFramePr/>
          <p:nvPr/>
        </p:nvGraphicFramePr>
        <p:xfrm>
          <a:off xmlns:a="http://schemas.openxmlformats.org/drawingml/2006/main" x="609600" y="1790700"/>
          <a:ext xmlns:a="http://schemas.openxmlformats.org/drawingml/2006/main" cx="10972800" cy="3714750"/>
        </p:xfrm>
        <a:graphic xmlns:a="http://schemas.openxmlformats.org/drawingml/2006/main">
          <a:graphicData uri="http://schemas.openxmlformats.org/drawingml/2006/table">
            <a:tbl>
              <a:tblPr/>
              <a:tblGrid>
                <a:gridCol w="3190875"/>
                <a:gridCol w="3429000"/>
                <a:gridCol w="4352925"/>
              </a:tblGrid>
              <a:tr h="619125">
                <a:tc>
                  <a:txBody>
                    <a:bodyPr/>
                    <a:lstStyle/>
                    <a:p>
                      <a:r>
                        <a:rPr sz="1800" b="1">
                          <a:solidFill>
                            <a:srgbClr val="FFFFFF"/>
                          </a:solidFill>
                          <a:latin typeface="Aptos"/>
                          <a:ea typeface="Aptos"/>
                          <a:cs typeface="Aptos"/>
                        </a:rPr>
                        <a:t>Họ phương pháp</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Model đại diện</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Cơ chế nổi bật</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19125">
                <a:tc>
                  <a:txBody>
                    <a:bodyPr/>
                    <a:lstStyle/>
                    <a:p>
                      <a:r>
                        <a:rPr sz="1800" b="0">
                          <a:solidFill>
                            <a:srgbClr val="102B40"/>
                          </a:solidFill>
                          <a:latin typeface="Aptos"/>
                          <a:ea typeface="Aptos"/>
                          <a:cs typeface="Aptos"/>
                        </a:rPr>
                        <a:t>Hyperprior và GAN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MS-ILLM, CRDR</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Học tín hiệu perceptual khi train</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00" b="0">
                          <a:solidFill>
                            <a:srgbClr val="102B40"/>
                          </a:solidFill>
                          <a:latin typeface="Aptos"/>
                          <a:ea typeface="Aptos"/>
                          <a:cs typeface="Aptos"/>
                        </a:rPr>
                        <a:t>Diffusion cho codec</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DiT-IC, CoD-Lite</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Dựng ảnh từ condition đã nén</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00" b="0">
                          <a:solidFill>
                            <a:srgbClr val="102B40"/>
                          </a:solidFill>
                          <a:latin typeface="Aptos"/>
                          <a:ea typeface="Aptos"/>
                          <a:cs typeface="Aptos"/>
                        </a:rPr>
                        <a:t>Prior codebook</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DC-VIC, AFP-GIC</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Dự đoán prior từ bit nhận được</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00" b="0">
                          <a:solidFill>
                            <a:srgbClr val="102B40"/>
                          </a:solidFill>
                          <a:latin typeface="Aptos"/>
                          <a:ea typeface="Aptos"/>
                          <a:cs typeface="Aptos"/>
                        </a:rPr>
                        <a:t>Decoder gọn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PULSE-L</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Xử lý ở resolution thấp</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00" b="0">
                          <a:solidFill>
                            <a:srgbClr val="102B40"/>
                          </a:solidFill>
                          <a:latin typeface="Aptos"/>
                          <a:ea typeface="Aptos"/>
                          <a:cs typeface="Aptos"/>
                        </a:rPr>
                        <a:t>Tối ưu từng ảnh / khối</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Cool-Chic, VTM-SCC</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Chi phí encode hoặc cấu trúc lặp</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bl>
          </a:graphicData>
        </a:graphic>
      </p:graphicFrame>
    </p:spTree>
    <p:extLst>
      <p:ext uri="{BB962C8B-B14F-4D97-AF65-F5344CB8AC3E}">
        <p14:creationId xmlns:p14="http://schemas.microsoft.com/office/powerpoint/2010/main" val="98821713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D62AD3-BEFC-4969-836E-B45119310DAD}"/>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Nền tảng mean-scale hyperprior</a:t>
            </a:r>
          </a:p>
        </p:txBody>
      </p:sp>
      <p:sp>
        <p:nvSpPr>
          <p:cNvPr id="2" name="">
            <a:extLst xmlns:a="http://schemas.openxmlformats.org/drawingml/2006/main">
              <a:ext uri="{FF2B5EF4-FFF2-40B4-BE49-F238E27FC236}">
                <a16:creationId xmlns:a16="http://schemas.microsoft.com/office/drawing/2014/main" id="{15A47857-D0A0-4BB9-913A-8EB38AF19BA2}"/>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10</a:t>
            </a:r>
          </a:p>
        </p:txBody>
      </p:sp>
      <p:graphicFrame>
        <p:nvGraphicFramePr>
          <p:cNvPr id="3" name="">
            <a:extLst xmlns:a="http://schemas.openxmlformats.org/drawingml/2006/main">
              <a:ext uri="{FF2B5EF4-FFF2-40B4-BE49-F238E27FC236}">
                <a16:creationId xmlns:a16="http://schemas.microsoft.com/office/drawing/2014/main" id="{2013684F-48C1-4C2B-8BFA-C43955627C70}"/>
              </a:ext>
            </a:extLst>
          </p:cNvPr>
          <p:cNvGraphicFramePr/>
          <p:nvPr/>
        </p:nvGraphicFramePr>
        <p:xfrm>
          <a:off xmlns:a="http://schemas.openxmlformats.org/drawingml/2006/main" x="609600" y="1790700"/>
          <a:ext xmlns:a="http://schemas.openxmlformats.org/drawingml/2006/main" cx="10972800" cy="3095625"/>
        </p:xfrm>
        <a:graphic xmlns:a="http://schemas.openxmlformats.org/drawingml/2006/main">
          <a:graphicData uri="http://schemas.openxmlformats.org/drawingml/2006/table">
            <a:tbl>
              <a:tblPr/>
              <a:tblGrid>
                <a:gridCol w="4191000"/>
                <a:gridCol w="6781800"/>
              </a:tblGrid>
              <a:tr h="619125">
                <a:tc>
                  <a:txBody>
                    <a:bodyPr/>
                    <a:lstStyle/>
                    <a:p>
                      <a:r>
                        <a:rPr sz="1875" b="1">
                          <a:solidFill>
                            <a:srgbClr val="FFFFFF"/>
                          </a:solidFill>
                          <a:latin typeface="Aptos"/>
                          <a:ea typeface="Aptos"/>
                          <a:cs typeface="Aptos"/>
                        </a:rPr>
                        <a:t>Thành phần</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Vai trò</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19125">
                <a:tc>
                  <a:txBody>
                    <a:bodyPr/>
                    <a:lstStyle/>
                    <a:p>
                      <a:r>
                        <a:rPr sz="1875" b="0">
                          <a:solidFill>
                            <a:srgbClr val="102B40"/>
                          </a:solidFill>
                          <a:latin typeface="Aptos"/>
                          <a:ea typeface="Aptos"/>
                          <a:cs typeface="Aptos"/>
                        </a:rPr>
                        <a:t>Analysis transform gₐ</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Chuyển ảnh x thành latent y</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75" b="0">
                          <a:solidFill>
                            <a:srgbClr val="102B40"/>
                          </a:solidFill>
                          <a:latin typeface="Aptos"/>
                          <a:ea typeface="Aptos"/>
                          <a:cs typeface="Aptos"/>
                        </a:rPr>
                        <a:t>Hyperprior hₐ / hₛ</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Truyền thông tin để dự đoán mean và scale</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75" b="0">
                          <a:solidFill>
                            <a:srgbClr val="102B40"/>
                          </a:solidFill>
                          <a:latin typeface="Aptos"/>
                          <a:ea typeface="Aptos"/>
                          <a:cs typeface="Aptos"/>
                        </a:rPr>
                        <a:t>Entropy coder</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Biến symbol lượng tử thành bit và ngược lại</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75" b="0">
                          <a:solidFill>
                            <a:srgbClr val="102B40"/>
                          </a:solidFill>
                          <a:latin typeface="Aptos"/>
                          <a:ea typeface="Aptos"/>
                          <a:cs typeface="Aptos"/>
                        </a:rPr>
                        <a:t>Synthesis transform gₛ</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Dựng ảnh x̂ từ latent đã giải mã</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2C07ECFC-B1A1-420F-B01A-EB07714A47EC}"/>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Đường xác suất quyết định số bit. Đường synthesis quyết định ảnh tái tạo.</a:t>
            </a:r>
          </a:p>
        </p:txBody>
      </p:sp>
    </p:spTree>
    <p:extLst>
      <p:ext uri="{BB962C8B-B14F-4D97-AF65-F5344CB8AC3E}">
        <p14:creationId xmlns:p14="http://schemas.microsoft.com/office/powerpoint/2010/main" val="8902075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E4455A7-4837-460D-8194-167D30F821B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MS-ILLM dùng nhãn cục bộ khi training</a:t>
            </a:r>
          </a:p>
        </p:txBody>
      </p:sp>
      <p:sp>
        <p:nvSpPr>
          <p:cNvPr id="2" name="">
            <a:extLst xmlns:a="http://schemas.openxmlformats.org/drawingml/2006/main">
              <a:ext uri="{FF2B5EF4-FFF2-40B4-BE49-F238E27FC236}">
                <a16:creationId xmlns:a16="http://schemas.microsoft.com/office/drawing/2014/main" id="{3E180599-AD0F-4DCA-BF47-EFF247C3B0FE}"/>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11</a:t>
            </a:r>
          </a:p>
        </p:txBody>
      </p:sp>
      <p:sp>
        <p:nvSpPr>
          <p:cNvPr id="3" name="">
            <a:extLst xmlns:a="http://schemas.openxmlformats.org/drawingml/2006/main">
              <a:ext uri="{FF2B5EF4-FFF2-40B4-BE49-F238E27FC236}">
                <a16:creationId xmlns:a16="http://schemas.microsoft.com/office/drawing/2014/main" id="{66BE964D-41AE-4278-A84C-826696FF1C30}"/>
              </a:ext>
            </a:extLst>
          </p:cNvPr>
          <p:cNvSpPr>
            <a:spLocks xmlns:a="http://schemas.openxmlformats.org/drawingml/2006/main" noGrp="1"/>
          </p:cNvSpPr>
          <p:nvPr/>
        </p:nvSpPr>
        <p:spPr>
          <a:xfrm xmlns:a="http://schemas.openxmlformats.org/drawingml/2006/main">
            <a:off x="609600" y="17621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Đường nén</a:t>
            </a:r>
          </a:p>
        </p:txBody>
      </p:sp>
      <p:sp>
        <p:nvSpPr>
          <p:cNvPr id="4" name="">
            <a:extLst xmlns:a="http://schemas.openxmlformats.org/drawingml/2006/main">
              <a:ext uri="{FF2B5EF4-FFF2-40B4-BE49-F238E27FC236}">
                <a16:creationId xmlns:a16="http://schemas.microsoft.com/office/drawing/2014/main" id="{4BE2BF6D-BAFF-411F-8FF8-98D396DBF912}"/>
              </a:ext>
            </a:extLst>
          </p:cNvPr>
          <p:cNvSpPr>
            <a:spLocks xmlns:a="http://schemas.openxmlformats.org/drawingml/2006/main" noGrp="1"/>
          </p:cNvSpPr>
          <p:nvPr/>
        </p:nvSpPr>
        <p:spPr>
          <a:xfrm xmlns:a="http://schemas.openxmlformats.org/drawingml/2006/main">
            <a:off x="6438900" y="17621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Tín hiệu bổ sung khi train</a:t>
            </a:r>
          </a:p>
        </p:txBody>
      </p:sp>
      <p:sp>
        <p:nvSpPr>
          <p:cNvPr id="5" name="">
            <a:extLst xmlns:a="http://schemas.openxmlformats.org/drawingml/2006/main">
              <a:ext uri="{FF2B5EF4-FFF2-40B4-BE49-F238E27FC236}">
                <a16:creationId xmlns:a16="http://schemas.microsoft.com/office/drawing/2014/main" id="{426C0B22-7559-41A6-8F30-36B0B9085D74}"/>
              </a:ext>
            </a:extLst>
          </p:cNvPr>
          <p:cNvSpPr>
            <a:spLocks xmlns:a="http://schemas.openxmlformats.org/drawingml/2006/main" noGrp="1"/>
          </p:cNvSpPr>
          <p:nvPr/>
        </p:nvSpPr>
        <p:spPr>
          <a:xfrm xmlns:a="http://schemas.openxmlformats.org/drawingml/2006/main">
            <a:off x="609600" y="2447925"/>
            <a:ext cx="50101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Encoder tạo latent.</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Hyperprior mô hình hóa mean và scale.</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Entropy stream truyền thông tin.</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Decoder tái tạo RGB.</a:t>
            </a:r>
          </a:p>
        </p:txBody>
      </p:sp>
      <p:sp>
        <p:nvSpPr>
          <p:cNvPr id="6" name="">
            <a:extLst xmlns:a="http://schemas.openxmlformats.org/drawingml/2006/main">
              <a:ext uri="{FF2B5EF4-FFF2-40B4-BE49-F238E27FC236}">
                <a16:creationId xmlns:a16="http://schemas.microsoft.com/office/drawing/2014/main" id="{7D8A483A-74C5-4E20-99F2-3CE17CE888D3}"/>
              </a:ext>
            </a:extLst>
          </p:cNvPr>
          <p:cNvSpPr>
            <a:spLocks xmlns:a="http://schemas.openxmlformats.org/drawingml/2006/main" noGrp="1"/>
          </p:cNvSpPr>
          <p:nvPr/>
        </p:nvSpPr>
        <p:spPr>
          <a:xfrm xmlns:a="http://schemas.openxmlformats.org/drawingml/2006/main">
            <a:off x="6438900" y="2447925"/>
            <a:ext cx="51054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VQ-VAE tạo nhãn theo vùng.</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U-Net dự đoán nhãn hoặc fake.</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Gradient đối kháng cập nhật codec để cải thiện thống kê cục bộ.</a:t>
            </a:r>
          </a:p>
        </p:txBody>
      </p:sp>
      <p:sp>
        <p:nvSpPr>
          <p:cNvPr id="7" name="">
            <a:extLst xmlns:a="http://schemas.openxmlformats.org/drawingml/2006/main">
              <a:ext uri="{FF2B5EF4-FFF2-40B4-BE49-F238E27FC236}">
                <a16:creationId xmlns:a16="http://schemas.microsoft.com/office/drawing/2014/main" id="{44E29EC1-FFB7-40EB-944F-50621E52D12E}"/>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Trong repo: checkpoint MS-ILLM public q1–q5.</a:t>
            </a:r>
          </a:p>
        </p:txBody>
      </p:sp>
    </p:spTree>
    <p:extLst>
      <p:ext uri="{BB962C8B-B14F-4D97-AF65-F5344CB8AC3E}">
        <p14:creationId xmlns:p14="http://schemas.microsoft.com/office/powerpoint/2010/main" val="86018111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4E1FD7-FAA6-40B8-B240-193EC9176ED8}"/>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MS-ILLM giữ decoder triển khai độc lập</a:t>
            </a:r>
          </a:p>
        </p:txBody>
      </p:sp>
      <p:sp>
        <p:nvSpPr>
          <p:cNvPr id="2" name="">
            <a:extLst xmlns:a="http://schemas.openxmlformats.org/drawingml/2006/main">
              <a:ext uri="{FF2B5EF4-FFF2-40B4-BE49-F238E27FC236}">
                <a16:creationId xmlns:a16="http://schemas.microsoft.com/office/drawing/2014/main" id="{52B0FC84-C6D7-4A7D-8F1F-C8E05BEDB8C3}"/>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12</a:t>
            </a:r>
          </a:p>
        </p:txBody>
      </p:sp>
      <p:graphicFrame>
        <p:nvGraphicFramePr>
          <p:cNvPr id="3" name="">
            <a:extLst xmlns:a="http://schemas.openxmlformats.org/drawingml/2006/main">
              <a:ext uri="{FF2B5EF4-FFF2-40B4-BE49-F238E27FC236}">
                <a16:creationId xmlns:a16="http://schemas.microsoft.com/office/drawing/2014/main" id="{0FBDC0EF-A22E-4F90-B92F-FD01CDDB7870}"/>
              </a:ext>
            </a:extLst>
          </p:cNvPr>
          <p:cNvGraphicFramePr/>
          <p:nvPr/>
        </p:nvGraphicFramePr>
        <p:xfrm>
          <a:off xmlns:a="http://schemas.openxmlformats.org/drawingml/2006/main" x="609600" y="1790700"/>
          <a:ext xmlns:a="http://schemas.openxmlformats.org/drawingml/2006/main" cx="10972800" cy="2762250"/>
        </p:xfrm>
        <a:graphic xmlns:a="http://schemas.openxmlformats.org/drawingml/2006/main">
          <a:graphicData uri="http://schemas.openxmlformats.org/drawingml/2006/table">
            <a:tbl>
              <a:tblPr/>
              <a:tblGrid>
                <a:gridCol w="3143250"/>
                <a:gridCol w="7829550"/>
              </a:tblGrid>
              <a:tr h="690563">
                <a:tc>
                  <a:txBody>
                    <a:bodyPr/>
                    <a:lstStyle/>
                    <a:p>
                      <a:r>
                        <a:rPr sz="1875" b="1">
                          <a:solidFill>
                            <a:srgbClr val="FFFFFF"/>
                          </a:solidFill>
                          <a:latin typeface="Aptos"/>
                          <a:ea typeface="Aptos"/>
                          <a:cs typeface="Aptos"/>
                        </a:rPr>
                        <a:t>Giai đoạn</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Thành phần và mục tiêu</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90563">
                <a:tc>
                  <a:txBody>
                    <a:bodyPr/>
                    <a:lstStyle/>
                    <a:p>
                      <a:r>
                        <a:rPr sz="1875" b="0">
                          <a:solidFill>
                            <a:srgbClr val="102B40"/>
                          </a:solidFill>
                          <a:latin typeface="Aptos"/>
                          <a:ea typeface="Aptos"/>
                          <a:cs typeface="Aptos"/>
                        </a:rPr>
                        <a:t>Pretraining</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Encoder, entropy model và decoder học nhiệm vụ nén</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90563">
                <a:tc>
                  <a:txBody>
                    <a:bodyPr/>
                    <a:lstStyle/>
                    <a:p>
                      <a:r>
                        <a:rPr sz="1875" b="0">
                          <a:solidFill>
                            <a:srgbClr val="102B40"/>
                          </a:solidFill>
                          <a:latin typeface="Aptos"/>
                          <a:ea typeface="Aptos"/>
                          <a:cs typeface="Aptos"/>
                        </a:rPr>
                        <a:t>Fine-tuning</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Decoder nhận loss distortion và đối kháng cục bộ</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90563">
                <a:tc>
                  <a:txBody>
                    <a:bodyPr/>
                    <a:lstStyle/>
                    <a:p>
                      <a:r>
                        <a:rPr sz="1875" b="0">
                          <a:solidFill>
                            <a:srgbClr val="102B40"/>
                          </a:solidFill>
                          <a:latin typeface="Aptos"/>
                          <a:ea typeface="Aptos"/>
                          <a:cs typeface="Aptos"/>
                        </a:rPr>
                        <a:t>Inference</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Chỉ dùng bitstream, entropy decoder và synthesis</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A832ABF-3D3F-4FA6-8B1F-B6215367DE32}"/>
              </a:ext>
            </a:extLst>
          </p:cNvPr>
          <p:cNvSpPr>
            <a:spLocks xmlns:a="http://schemas.openxmlformats.org/drawingml/2006/main" noGrp="1"/>
          </p:cNvSpPr>
          <p:nvPr/>
        </p:nvSpPr>
        <p:spPr>
          <a:xfrm xmlns:a="http://schemas.openxmlformats.org/drawingml/2006/main">
            <a:off x="609600" y="48577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700" b="1">
                <a:solidFill>
                  <a:srgbClr val="007F78"/>
                </a:solidFill>
                <a:latin typeface="Aptos"/>
                <a:ea typeface="Aptos"/>
                <a:cs typeface="Aptos"/>
              </a:defRPr>
            </a:defPPr>
          </a:lstStyle>
          <a:p xmlns:a="http://schemas.openxmlformats.org/drawingml/2006/main">
            <a:pPr>
              <a:defRPr sz="2700" b="1">
                <a:solidFill>
                  <a:srgbClr val="007F78"/>
                </a:solidFill>
                <a:latin typeface="Aptos"/>
                <a:ea typeface="Aptos"/>
                <a:cs typeface="Aptos"/>
              </a:defRPr>
            </a:pPr>
            <a:r>
              <a:rPr sz="2700" b="1">
                <a:solidFill>
                  <a:srgbClr val="007F78"/>
                </a:solidFill>
                <a:latin typeface="Aptos"/>
                <a:ea typeface="Aptos"/>
                <a:cs typeface="Aptos"/>
              </a:rPr>
              <a:t>Lcodec = λR R + λD D + λG Ladv</a:t>
            </a:r>
          </a:p>
        </p:txBody>
      </p:sp>
    </p:spTree>
    <p:extLst>
      <p:ext uri="{BB962C8B-B14F-4D97-AF65-F5344CB8AC3E}">
        <p14:creationId xmlns:p14="http://schemas.microsoft.com/office/powerpoint/2010/main" val="212313880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772218-F3B4-4AE7-B892-C1EE846ED1AC}"/>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DiT-IC ghép latent codec với SANA và DC-AE</a:t>
            </a:r>
          </a:p>
        </p:txBody>
      </p:sp>
      <p:sp>
        <p:nvSpPr>
          <p:cNvPr id="2" name="">
            <a:extLst xmlns:a="http://schemas.openxmlformats.org/drawingml/2006/main">
              <a:ext uri="{FF2B5EF4-FFF2-40B4-BE49-F238E27FC236}">
                <a16:creationId xmlns:a16="http://schemas.microsoft.com/office/drawing/2014/main" id="{94640397-58B2-4760-AD9D-FE8A630C75B9}"/>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13</a:t>
            </a:r>
          </a:p>
        </p:txBody>
      </p:sp>
      <p:graphicFrame>
        <p:nvGraphicFramePr>
          <p:cNvPr id="3" name="">
            <a:extLst xmlns:a="http://schemas.openxmlformats.org/drawingml/2006/main">
              <a:ext uri="{FF2B5EF4-FFF2-40B4-BE49-F238E27FC236}">
                <a16:creationId xmlns:a16="http://schemas.microsoft.com/office/drawing/2014/main" id="{40474A07-DD3F-4C96-BBE2-67FBE7774503}"/>
              </a:ext>
            </a:extLst>
          </p:cNvPr>
          <p:cNvGraphicFramePr/>
          <p:nvPr/>
        </p:nvGraphicFramePr>
        <p:xfrm>
          <a:off xmlns:a="http://schemas.openxmlformats.org/drawingml/2006/main" x="609600" y="1790700"/>
          <a:ext xmlns:a="http://schemas.openxmlformats.org/drawingml/2006/main" cx="10972800" cy="3143250"/>
        </p:xfrm>
        <a:graphic xmlns:a="http://schemas.openxmlformats.org/drawingml/2006/main">
          <a:graphicData uri="http://schemas.openxmlformats.org/drawingml/2006/table">
            <a:tbl>
              <a:tblPr/>
              <a:tblGrid>
                <a:gridCol w="4095750"/>
                <a:gridCol w="6877050"/>
              </a:tblGrid>
              <a:tr h="628650">
                <a:tc>
                  <a:txBody>
                    <a:bodyPr/>
                    <a:lstStyle/>
                    <a:p>
                      <a:r>
                        <a:rPr sz="1875" b="1">
                          <a:solidFill>
                            <a:srgbClr val="FFFFFF"/>
                          </a:solidFill>
                          <a:latin typeface="Aptos"/>
                          <a:ea typeface="Aptos"/>
                          <a:cs typeface="Aptos"/>
                        </a:rPr>
                        <a:t>Thứ tự decode</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Đầu ra</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28650">
                <a:tc>
                  <a:txBody>
                    <a:bodyPr/>
                    <a:lstStyle/>
                    <a:p>
                      <a:r>
                        <a:rPr sz="1875" b="0">
                          <a:solidFill>
                            <a:srgbClr val="102B40"/>
                          </a:solidFill>
                          <a:latin typeface="Aptos"/>
                          <a:ea typeface="Aptos"/>
                          <a:cs typeface="Aptos"/>
                        </a:rPr>
                        <a:t>1. Latent codec</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Mean, log-variance, residual, prompt latent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28650">
                <a:tc>
                  <a:txBody>
                    <a:bodyPr/>
                    <a:lstStyle/>
                    <a:p>
                      <a:r>
                        <a:rPr sz="1875" b="0">
                          <a:solidFill>
                            <a:srgbClr val="102B40"/>
                          </a:solidFill>
                          <a:latin typeface="Aptos"/>
                          <a:ea typeface="Aptos"/>
                          <a:cs typeface="Aptos"/>
                        </a:rPr>
                        <a:t>2. Prompter và SANA DiT</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Biểu diễn tái tạo có điều kiện</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28650">
                <a:tc>
                  <a:txBody>
                    <a:bodyPr/>
                    <a:lstStyle/>
                    <a:p>
                      <a:r>
                        <a:rPr sz="1875" b="0">
                          <a:solidFill>
                            <a:srgbClr val="102B40"/>
                          </a:solidFill>
                          <a:latin typeface="Aptos"/>
                          <a:ea typeface="Aptos"/>
                          <a:cs typeface="Aptos"/>
                        </a:rPr>
                        <a:t>3. Scheduler và residual</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Latent sau hiệu chỉnh</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28650">
                <a:tc>
                  <a:txBody>
                    <a:bodyPr/>
                    <a:lstStyle/>
                    <a:p>
                      <a:r>
                        <a:rPr sz="1875" b="0">
                          <a:solidFill>
                            <a:srgbClr val="102B40"/>
                          </a:solidFill>
                          <a:latin typeface="Aptos"/>
                          <a:ea typeface="Aptos"/>
                          <a:cs typeface="Aptos"/>
                        </a:rPr>
                        <a:t>4. DC-AE decoder</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Ảnh RGB, crop về kích thước gốc</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4D02CE2A-1CCF-4E00-A504-50196E4CB7D1}"/>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Luồng theo implementation repo. Không cần prompt văn bản ở inference.</a:t>
            </a:r>
          </a:p>
        </p:txBody>
      </p:sp>
    </p:spTree>
    <p:extLst>
      <p:ext uri="{BB962C8B-B14F-4D97-AF65-F5344CB8AC3E}">
        <p14:creationId xmlns:p14="http://schemas.microsoft.com/office/powerpoint/2010/main" val="166386978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1DFB34B-D0FD-4994-A111-2FBFCE77CD78}"/>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Ba alignment của DiT-IC</a:t>
            </a:r>
          </a:p>
        </p:txBody>
      </p:sp>
      <p:sp>
        <p:nvSpPr>
          <p:cNvPr id="2" name="">
            <a:extLst xmlns:a="http://schemas.openxmlformats.org/drawingml/2006/main">
              <a:ext uri="{FF2B5EF4-FFF2-40B4-BE49-F238E27FC236}">
                <a16:creationId xmlns:a16="http://schemas.microsoft.com/office/drawing/2014/main" id="{3B29E834-AEA9-4333-AD7E-88BED3565D15}"/>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14</a:t>
            </a:r>
          </a:p>
        </p:txBody>
      </p:sp>
      <p:graphicFrame>
        <p:nvGraphicFramePr>
          <p:cNvPr id="3" name="">
            <a:extLst xmlns:a="http://schemas.openxmlformats.org/drawingml/2006/main">
              <a:ext uri="{FF2B5EF4-FFF2-40B4-BE49-F238E27FC236}">
                <a16:creationId xmlns:a16="http://schemas.microsoft.com/office/drawing/2014/main" id="{A9BE006E-B35C-4A95-A94A-42740F787946}"/>
              </a:ext>
            </a:extLst>
          </p:cNvPr>
          <p:cNvGraphicFramePr/>
          <p:nvPr/>
        </p:nvGraphicFramePr>
        <p:xfrm>
          <a:off xmlns:a="http://schemas.openxmlformats.org/drawingml/2006/main" x="609600" y="1790700"/>
          <a:ext xmlns:a="http://schemas.openxmlformats.org/drawingml/2006/main" cx="10972800" cy="3143250"/>
        </p:xfrm>
        <a:graphic xmlns:a="http://schemas.openxmlformats.org/drawingml/2006/main">
          <a:graphicData uri="http://schemas.openxmlformats.org/drawingml/2006/table">
            <a:tbl>
              <a:tblPr/>
              <a:tblGrid>
                <a:gridCol w="4524375"/>
                <a:gridCol w="6448425"/>
              </a:tblGrid>
              <a:tr h="628650">
                <a:tc>
                  <a:txBody>
                    <a:bodyPr/>
                    <a:lstStyle/>
                    <a:p>
                      <a:r>
                        <a:rPr sz="1875" b="1">
                          <a:solidFill>
                            <a:srgbClr val="FFFFFF"/>
                          </a:solidFill>
                          <a:latin typeface="Aptos"/>
                          <a:ea typeface="Aptos"/>
                          <a:cs typeface="Aptos"/>
                        </a:rPr>
                        <a:t>Cơ chế</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Mục đích</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28650">
                <a:tc>
                  <a:txBody>
                    <a:bodyPr/>
                    <a:lstStyle/>
                    <a:p>
                      <a:r>
                        <a:rPr sz="1875" b="0">
                          <a:solidFill>
                            <a:srgbClr val="102B40"/>
                          </a:solidFill>
                          <a:latin typeface="Aptos"/>
                          <a:ea typeface="Aptos"/>
                          <a:cs typeface="Aptos"/>
                        </a:rPr>
                        <a:t>Variance-guided flow</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Điều chỉnh tái tạo theo uncertainty</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28650">
                <a:tc>
                  <a:txBody>
                    <a:bodyPr/>
                    <a:lstStyle/>
                    <a:p>
                      <a:r>
                        <a:rPr sz="1875" b="0">
                          <a:solidFill>
                            <a:srgbClr val="102B40"/>
                          </a:solidFill>
                          <a:latin typeface="Aptos"/>
                          <a:ea typeface="Aptos"/>
                          <a:cs typeface="Aptos"/>
                        </a:rPr>
                        <a:t>Self-distillation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Khớp biểu diễn mục tiêu của encoder đóng băng</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28650">
                <a:tc>
                  <a:txBody>
                    <a:bodyPr/>
                    <a:lstStyle/>
                    <a:p>
                      <a:r>
                        <a:rPr sz="1875" b="0">
                          <a:solidFill>
                            <a:srgbClr val="102B40"/>
                          </a:solidFill>
                          <a:latin typeface="Aptos"/>
                          <a:ea typeface="Aptos"/>
                          <a:cs typeface="Aptos"/>
                        </a:rPr>
                        <a:t>Latent-conditioned guidance</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Tạo conditioning từ thông tin đã nén</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28650">
                <a:tc>
                  <a:txBody>
                    <a:bodyPr/>
                    <a:lstStyle/>
                    <a:p>
                      <a:r>
                        <a:rPr sz="1875" b="0">
                          <a:solidFill>
                            <a:srgbClr val="102B40"/>
                          </a:solidFill>
                          <a:latin typeface="Aptos"/>
                          <a:ea typeface="Aptos"/>
                          <a:cs typeface="Aptos"/>
                        </a:rPr>
                        <a:t>LoRA adaptation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Thích nghi DiT và decoder với nhiệm vụ nén</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7519D859-C69E-428C-8443-09DCF895BB0A}"/>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Chưng cất DC-AE trong repo là một thí nghiệm riêng.</a:t>
            </a:r>
          </a:p>
        </p:txBody>
      </p:sp>
    </p:spTree>
    <p:extLst>
      <p:ext uri="{BB962C8B-B14F-4D97-AF65-F5344CB8AC3E}">
        <p14:creationId xmlns:p14="http://schemas.microsoft.com/office/powerpoint/2010/main" val="205278356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AAB2037-61A2-4E12-B0B6-B1EDA040131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DC-AE và SANA tạo nền tảng cho DiT-IC</a:t>
            </a:r>
          </a:p>
        </p:txBody>
      </p:sp>
      <p:sp>
        <p:nvSpPr>
          <p:cNvPr id="2" name="">
            <a:extLst xmlns:a="http://schemas.openxmlformats.org/drawingml/2006/main">
              <a:ext uri="{FF2B5EF4-FFF2-40B4-BE49-F238E27FC236}">
                <a16:creationId xmlns:a16="http://schemas.microsoft.com/office/drawing/2014/main" id="{49A8981F-EEC9-4F54-81AB-289681983615}"/>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15</a:t>
            </a:r>
          </a:p>
        </p:txBody>
      </p:sp>
      <p:sp>
        <p:nvSpPr>
          <p:cNvPr id="3" name="">
            <a:extLst xmlns:a="http://schemas.openxmlformats.org/drawingml/2006/main">
              <a:ext uri="{FF2B5EF4-FFF2-40B4-BE49-F238E27FC236}">
                <a16:creationId xmlns:a16="http://schemas.microsoft.com/office/drawing/2014/main" id="{86D2C5C5-4766-44C5-ADD1-4FC3E9A583DC}"/>
              </a:ext>
            </a:extLst>
          </p:cNvPr>
          <p:cNvSpPr>
            <a:spLocks xmlns:a="http://schemas.openxmlformats.org/drawingml/2006/main" noGrp="1"/>
          </p:cNvSpPr>
          <p:nvPr/>
        </p:nvSpPr>
        <p:spPr>
          <a:xfrm xmlns:a="http://schemas.openxmlformats.org/drawingml/2006/main">
            <a:off x="609600" y="17621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DC-AE</a:t>
            </a:r>
          </a:p>
        </p:txBody>
      </p:sp>
      <p:sp>
        <p:nvSpPr>
          <p:cNvPr id="4" name="">
            <a:extLst xmlns:a="http://schemas.openxmlformats.org/drawingml/2006/main">
              <a:ext uri="{FF2B5EF4-FFF2-40B4-BE49-F238E27FC236}">
                <a16:creationId xmlns:a16="http://schemas.microsoft.com/office/drawing/2014/main" id="{FF871F50-1368-4F70-89CE-E61849D98BB3}"/>
              </a:ext>
            </a:extLst>
          </p:cNvPr>
          <p:cNvSpPr>
            <a:spLocks xmlns:a="http://schemas.openxmlformats.org/drawingml/2006/main" noGrp="1"/>
          </p:cNvSpPr>
          <p:nvPr/>
        </p:nvSpPr>
        <p:spPr>
          <a:xfrm xmlns:a="http://schemas.openxmlformats.org/drawingml/2006/main">
            <a:off x="6438900" y="17621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SANA</a:t>
            </a:r>
          </a:p>
        </p:txBody>
      </p:sp>
      <p:sp>
        <p:nvSpPr>
          <p:cNvPr id="5" name="">
            <a:extLst xmlns:a="http://schemas.openxmlformats.org/drawingml/2006/main">
              <a:ext uri="{FF2B5EF4-FFF2-40B4-BE49-F238E27FC236}">
                <a16:creationId xmlns:a16="http://schemas.microsoft.com/office/drawing/2014/main" id="{E3C96D10-CA2C-423E-86F7-DB8E2985926B}"/>
              </a:ext>
            </a:extLst>
          </p:cNvPr>
          <p:cNvSpPr>
            <a:spLocks xmlns:a="http://schemas.openxmlformats.org/drawingml/2006/main" noGrp="1"/>
          </p:cNvSpPr>
          <p:nvPr/>
        </p:nvSpPr>
        <p:spPr>
          <a:xfrm xmlns:a="http://schemas.openxmlformats.org/drawingml/2006/main">
            <a:off x="609600" y="2447925"/>
            <a:ext cx="50101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Giảm resolution mạnh, ở cấu hình dùng trong repo là 32 lần.</a:t>
            </a:r>
          </a:p>
          <a:p xmlns:a="http://schemas.openxmlformats.org/drawingml/2006/main">
            <a:r>
              <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Shortcut space-to-channel hỗ trợ học phần dư.</a:t>
            </a:r>
          </a:p>
        </p:txBody>
      </p:sp>
      <p:sp>
        <p:nvSpPr>
          <p:cNvPr id="6" name="">
            <a:extLst xmlns:a="http://schemas.openxmlformats.org/drawingml/2006/main">
              <a:ext uri="{FF2B5EF4-FFF2-40B4-BE49-F238E27FC236}">
                <a16:creationId xmlns:a16="http://schemas.microsoft.com/office/drawing/2014/main" id="{85243932-8FC1-4161-A024-D45DEC8E4E25}"/>
              </a:ext>
            </a:extLst>
          </p:cNvPr>
          <p:cNvSpPr>
            <a:spLocks xmlns:a="http://schemas.openxmlformats.org/drawingml/2006/main" noGrp="1"/>
          </p:cNvSpPr>
          <p:nvPr/>
        </p:nvSpPr>
        <p:spPr>
          <a:xfrm xmlns:a="http://schemas.openxmlformats.org/drawingml/2006/main">
            <a:off x="6438900" y="2447925"/>
            <a:ext cx="51054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Linear-attention DiT làm việc trên latent nén sâu.</a:t>
            </a:r>
          </a:p>
          <a:p xmlns:a="http://schemas.openxmlformats.org/drawingml/2006/main">
            <a:r>
              <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FFN có locality bổ sung cấu trúc không gian.</a:t>
            </a:r>
          </a:p>
        </p:txBody>
      </p:sp>
      <p:sp>
        <p:nvSpPr>
          <p:cNvPr id="7" name="">
            <a:extLst xmlns:a="http://schemas.openxmlformats.org/drawingml/2006/main">
              <a:ext uri="{FF2B5EF4-FFF2-40B4-BE49-F238E27FC236}">
                <a16:creationId xmlns:a16="http://schemas.microsoft.com/office/drawing/2014/main" id="{8D005FC0-7015-4EF5-B1D5-5D1205691B61}"/>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Autoencoder giảm kích thước tensor chưa đồng nghĩa tạo file nén entropy.</a:t>
            </a:r>
          </a:p>
        </p:txBody>
      </p:sp>
    </p:spTree>
    <p:extLst>
      <p:ext uri="{BB962C8B-B14F-4D97-AF65-F5344CB8AC3E}">
        <p14:creationId xmlns:p14="http://schemas.microsoft.com/office/powerpoint/2010/main" val="182507313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434D187-B76E-4F39-A48E-CE5CE20A0E73}"/>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Kiến trúc PULSE</a:t>
            </a:r>
          </a:p>
        </p:txBody>
      </p:sp>
      <p:sp>
        <p:nvSpPr>
          <p:cNvPr id="2" name="">
            <a:extLst xmlns:a="http://schemas.openxmlformats.org/drawingml/2006/main">
              <a:ext uri="{FF2B5EF4-FFF2-40B4-BE49-F238E27FC236}">
                <a16:creationId xmlns:a16="http://schemas.microsoft.com/office/drawing/2014/main" id="{9A2AC034-787E-4AC1-A5D3-BE34080076D3}"/>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16</a:t>
            </a:r>
          </a:p>
        </p:txBody>
      </p:sp>
      <p:pic>
        <p:nvPicPr>
          <p:cNvPr id="3" name="">
            <a:extLst xmlns:a="http://schemas.openxmlformats.org/drawingml/2006/main">
              <a:ext uri="{FF2B5EF4-FFF2-40B4-BE49-F238E27FC236}">
                <a16:creationId xmlns:a16="http://schemas.microsoft.com/office/drawing/2014/main" id="{B5C2EBE9-97DE-41B5-B7DF-59F363C6577A}"/>
              </a:ext>
            </a:extLst>
          </p:cNvPr>
          <p:cNvPicPr>
            <a:picLocks xmlns:a="http://schemas.openxmlformats.org/drawingml/2006/main" noChangeAspect="1"/>
          </p:cNvPicPr>
          <p:nvPr/>
        </p:nvPicPr>
        <p:blipFill>
          <a:blip xmlns:r="http://schemas.openxmlformats.org/officeDocument/2006/relationships" xmlns:a="http://schemas.openxmlformats.org/drawingml/2006/main" r:embed="R68ad46ec5aaa4c0b"/>
          <a:stretch xmlns:a="http://schemas.openxmlformats.org/drawingml/2006/main"/>
        </p:blipFill>
        <p:spPr>
          <a:xfrm xmlns:a="http://schemas.openxmlformats.org/drawingml/2006/main">
            <a:off x="457200" y="1755286"/>
            <a:ext cx="11277600" cy="373795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8FFAF1-2897-4AD6-B7AC-6965AE07180D}"/>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Encoder stride 16. Hai lượt entropy. Renderer dùng AdaLN và PixelShuffle.</a:t>
            </a:r>
          </a:p>
        </p:txBody>
      </p:sp>
    </p:spTree>
    <p:extLst>
      <p:ext uri="{BB962C8B-B14F-4D97-AF65-F5344CB8AC3E}">
        <p14:creationId xmlns:p14="http://schemas.microsoft.com/office/powerpoint/2010/main" val="112965227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736B9B-77B9-405D-A9B4-EC71EB282C8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PULSE tách entropy tất định khỏi synthesis float</a:t>
            </a:r>
          </a:p>
        </p:txBody>
      </p:sp>
      <p:sp>
        <p:nvSpPr>
          <p:cNvPr id="2" name="">
            <a:extLst xmlns:a="http://schemas.openxmlformats.org/drawingml/2006/main">
              <a:ext uri="{FF2B5EF4-FFF2-40B4-BE49-F238E27FC236}">
                <a16:creationId xmlns:a16="http://schemas.microsoft.com/office/drawing/2014/main" id="{3731AEC8-E069-4D3D-9294-811467C8010C}"/>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17</a:t>
            </a:r>
          </a:p>
        </p:txBody>
      </p:sp>
      <p:sp>
        <p:nvSpPr>
          <p:cNvPr id="3" name="">
            <a:extLst xmlns:a="http://schemas.openxmlformats.org/drawingml/2006/main">
              <a:ext uri="{FF2B5EF4-FFF2-40B4-BE49-F238E27FC236}">
                <a16:creationId xmlns:a16="http://schemas.microsoft.com/office/drawing/2014/main" id="{634B6947-48F6-4D59-875F-DFD155E6CD85}"/>
              </a:ext>
            </a:extLst>
          </p:cNvPr>
          <p:cNvSpPr>
            <a:spLocks xmlns:a="http://schemas.openxmlformats.org/drawingml/2006/main" noGrp="1"/>
          </p:cNvSpPr>
          <p:nvPr/>
        </p:nvSpPr>
        <p:spPr>
          <a:xfrm xmlns:a="http://schemas.openxmlformats.org/drawingml/2006/main">
            <a:off x="609600" y="17621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Đường entropy</a:t>
            </a:r>
          </a:p>
        </p:txBody>
      </p:sp>
      <p:sp>
        <p:nvSpPr>
          <p:cNvPr id="4" name="">
            <a:extLst xmlns:a="http://schemas.openxmlformats.org/drawingml/2006/main">
              <a:ext uri="{FF2B5EF4-FFF2-40B4-BE49-F238E27FC236}">
                <a16:creationId xmlns:a16="http://schemas.microsoft.com/office/drawing/2014/main" id="{E2126199-BBD4-4500-BBF7-C04BEDF1D580}"/>
              </a:ext>
            </a:extLst>
          </p:cNvPr>
          <p:cNvSpPr>
            <a:spLocks xmlns:a="http://schemas.openxmlformats.org/drawingml/2006/main" noGrp="1"/>
          </p:cNvSpPr>
          <p:nvPr/>
        </p:nvSpPr>
        <p:spPr>
          <a:xfrm xmlns:a="http://schemas.openxmlformats.org/drawingml/2006/main">
            <a:off x="6438900" y="17621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Đường dựng ảnh</a:t>
            </a:r>
          </a:p>
        </p:txBody>
      </p:sp>
      <p:sp>
        <p:nvSpPr>
          <p:cNvPr id="5" name="">
            <a:extLst xmlns:a="http://schemas.openxmlformats.org/drawingml/2006/main">
              <a:ext uri="{FF2B5EF4-FFF2-40B4-BE49-F238E27FC236}">
                <a16:creationId xmlns:a16="http://schemas.microsoft.com/office/drawing/2014/main" id="{1A91195D-70BC-46F6-A3BD-6803ED7BB111}"/>
              </a:ext>
            </a:extLst>
          </p:cNvPr>
          <p:cNvSpPr>
            <a:spLocks xmlns:a="http://schemas.openxmlformats.org/drawingml/2006/main" noGrp="1"/>
          </p:cNvSpPr>
          <p:nvPr/>
        </p:nvSpPr>
        <p:spPr>
          <a:xfrm xmlns:a="http://schemas.openxmlformats.org/drawingml/2006/main">
            <a:off x="609600" y="2447925"/>
            <a:ext cx="50101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Linear CDF số nguyên.</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Meta Prior thích nghi hyperlatent.</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Checkerboard giải qua hai lượt.</a:t>
            </a:r>
          </a:p>
        </p:txBody>
      </p:sp>
      <p:sp>
        <p:nvSpPr>
          <p:cNvPr id="6" name="">
            <a:extLst xmlns:a="http://schemas.openxmlformats.org/drawingml/2006/main">
              <a:ext uri="{FF2B5EF4-FFF2-40B4-BE49-F238E27FC236}">
                <a16:creationId xmlns:a16="http://schemas.microsoft.com/office/drawing/2014/main" id="{8A7C0291-B089-42FB-A599-24F623DCFF17}"/>
              </a:ext>
            </a:extLst>
          </p:cNvPr>
          <p:cNvSpPr>
            <a:spLocks xmlns:a="http://schemas.openxmlformats.org/drawingml/2006/main" noGrp="1"/>
          </p:cNvSpPr>
          <p:nvPr/>
        </p:nvSpPr>
        <p:spPr>
          <a:xfrm xmlns:a="http://schemas.openxmlformats.org/drawingml/2006/main">
            <a:off x="6438900" y="2447925"/>
            <a:ext cx="51054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Đặc trưng ở resolution thấp.</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AdaLN điều chế MLP renderer.</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PixelShuffle tạo RGB.</a:t>
            </a:r>
          </a:p>
        </p:txBody>
      </p:sp>
      <p:sp>
        <p:nvSpPr>
          <p:cNvPr id="7" name="">
            <a:extLst xmlns:a="http://schemas.openxmlformats.org/drawingml/2006/main">
              <a:ext uri="{FF2B5EF4-FFF2-40B4-BE49-F238E27FC236}">
                <a16:creationId xmlns:a16="http://schemas.microsoft.com/office/drawing/2014/main" id="{DBF33925-2C47-435B-B609-4DD1D0249D0A}"/>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Release: base ≈5.2 kMAC/pixel, PULSE-L ≈20 kMAC/pixel.</a:t>
            </a:r>
          </a:p>
        </p:txBody>
      </p:sp>
    </p:spTree>
    <p:extLst>
      <p:ext uri="{BB962C8B-B14F-4D97-AF65-F5344CB8AC3E}">
        <p14:creationId xmlns:p14="http://schemas.microsoft.com/office/powerpoint/2010/main" val="14746562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09D7DF-0C0C-42F8-B41F-C76B5D387CC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CoD-Lite dùng condition giàu thông tin</a:t>
            </a:r>
          </a:p>
        </p:txBody>
      </p:sp>
      <p:sp>
        <p:nvSpPr>
          <p:cNvPr id="2" name="">
            <a:extLst xmlns:a="http://schemas.openxmlformats.org/drawingml/2006/main">
              <a:ext uri="{FF2B5EF4-FFF2-40B4-BE49-F238E27FC236}">
                <a16:creationId xmlns:a16="http://schemas.microsoft.com/office/drawing/2014/main" id="{F53DA0B0-ED38-4C11-81D1-521B2D4EE469}"/>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18</a:t>
            </a:r>
          </a:p>
        </p:txBody>
      </p:sp>
      <p:graphicFrame>
        <p:nvGraphicFramePr>
          <p:cNvPr id="3" name="">
            <a:extLst xmlns:a="http://schemas.openxmlformats.org/drawingml/2006/main">
              <a:ext uri="{FF2B5EF4-FFF2-40B4-BE49-F238E27FC236}">
                <a16:creationId xmlns:a16="http://schemas.microsoft.com/office/drawing/2014/main" id="{E2B1123A-1DE4-4EA6-9CAC-AD01BEED943D}"/>
              </a:ext>
            </a:extLst>
          </p:cNvPr>
          <p:cNvGraphicFramePr/>
          <p:nvPr/>
        </p:nvGraphicFramePr>
        <p:xfrm>
          <a:off xmlns:a="http://schemas.openxmlformats.org/drawingml/2006/main" x="609600" y="1790700"/>
          <a:ext xmlns:a="http://schemas.openxmlformats.org/drawingml/2006/main" cx="10972800" cy="3190875"/>
        </p:xfrm>
        <a:graphic xmlns:a="http://schemas.openxmlformats.org/drawingml/2006/main">
          <a:graphicData uri="http://schemas.openxmlformats.org/drawingml/2006/table">
            <a:tbl>
              <a:tblPr/>
              <a:tblGrid>
                <a:gridCol w="3429000"/>
                <a:gridCol w="7543800"/>
              </a:tblGrid>
              <a:tr h="638175">
                <a:tc>
                  <a:txBody>
                    <a:bodyPr/>
                    <a:lstStyle/>
                    <a:p>
                      <a:r>
                        <a:rPr sz="1875" b="1">
                          <a:solidFill>
                            <a:srgbClr val="FFFFFF"/>
                          </a:solidFill>
                          <a:latin typeface="Aptos"/>
                          <a:ea typeface="Aptos"/>
                          <a:cs typeface="Aptos"/>
                        </a:rPr>
                        <a:t>Khâu</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Thiết kế</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38175">
                <a:tc>
                  <a:txBody>
                    <a:bodyPr/>
                    <a:lstStyle/>
                    <a:p>
                      <a:r>
                        <a:rPr sz="1875" b="0">
                          <a:solidFill>
                            <a:srgbClr val="102B40"/>
                          </a:solidFill>
                          <a:latin typeface="Aptos"/>
                          <a:ea typeface="Aptos"/>
                          <a:cs typeface="Aptos"/>
                        </a:rPr>
                        <a:t>Mã hóa condition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Convolution encoder và vector quantization</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38175">
                <a:tc>
                  <a:txBody>
                    <a:bodyPr/>
                    <a:lstStyle/>
                    <a:p>
                      <a:r>
                        <a:rPr sz="1875" b="0">
                          <a:solidFill>
                            <a:srgbClr val="102B40"/>
                          </a:solidFill>
                          <a:latin typeface="Aptos"/>
                          <a:ea typeface="Aptos"/>
                          <a:cs typeface="Aptos"/>
                        </a:rPr>
                        <a:t>Truyền dữ liệu</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Codebook indices mã hóa độ dài cố định</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38175">
                <a:tc>
                  <a:txBody>
                    <a:bodyPr/>
                    <a:lstStyle/>
                    <a:p>
                      <a:r>
                        <a:rPr sz="1875" b="0">
                          <a:solidFill>
                            <a:srgbClr val="102B40"/>
                          </a:solidFill>
                          <a:latin typeface="Aptos"/>
                          <a:ea typeface="Aptos"/>
                          <a:cs typeface="Aptos"/>
                        </a:rPr>
                        <a:t>Dựng ảnh</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Diffusion convolution một bước trong pixel space</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38175">
                <a:tc>
                  <a:txBody>
                    <a:bodyPr/>
                    <a:lstStyle/>
                    <a:p>
                      <a:r>
                        <a:rPr sz="1875" b="0">
                          <a:solidFill>
                            <a:srgbClr val="102B40"/>
                          </a:solidFill>
                          <a:latin typeface="Aptos"/>
                          <a:ea typeface="Aptos"/>
                          <a:cs typeface="Aptos"/>
                        </a:rPr>
                        <a:t>Distillation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Teacher CoD, DMD và tín hiệu đối kháng</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47DEE9FE-DB31-429A-B2DE-B340A4950332}"/>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Mỗi operating point gắn config/checkpoint. FID của paper chưa chứng minh Q̂ tốt hơn.</a:t>
            </a:r>
          </a:p>
        </p:txBody>
      </p:sp>
    </p:spTree>
    <p:extLst>
      <p:ext uri="{BB962C8B-B14F-4D97-AF65-F5344CB8AC3E}">
        <p14:creationId xmlns:p14="http://schemas.microsoft.com/office/powerpoint/2010/main" val="105124272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AEC0452-316E-42D2-9D57-BCD1504718F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DC-VIC và AFP-GIC chuyển prior vào decoder</a:t>
            </a:r>
          </a:p>
        </p:txBody>
      </p:sp>
      <p:sp>
        <p:nvSpPr>
          <p:cNvPr id="2" name="">
            <a:extLst xmlns:a="http://schemas.openxmlformats.org/drawingml/2006/main">
              <a:ext uri="{FF2B5EF4-FFF2-40B4-BE49-F238E27FC236}">
                <a16:creationId xmlns:a16="http://schemas.microsoft.com/office/drawing/2014/main" id="{C30FEAC5-2B67-4E68-8FB3-A683994A190D}"/>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19</a:t>
            </a:r>
          </a:p>
        </p:txBody>
      </p:sp>
      <p:graphicFrame>
        <p:nvGraphicFramePr>
          <p:cNvPr id="3" name="">
            <a:extLst xmlns:a="http://schemas.openxmlformats.org/drawingml/2006/main">
              <a:ext uri="{FF2B5EF4-FFF2-40B4-BE49-F238E27FC236}">
                <a16:creationId xmlns:a16="http://schemas.microsoft.com/office/drawing/2014/main" id="{B26FB188-1540-422F-84AC-B638F2D44E39}"/>
              </a:ext>
            </a:extLst>
          </p:cNvPr>
          <p:cNvGraphicFramePr/>
          <p:nvPr/>
        </p:nvGraphicFramePr>
        <p:xfrm>
          <a:off xmlns:a="http://schemas.openxmlformats.org/drawingml/2006/main" x="609600" y="1790700"/>
          <a:ext xmlns:a="http://schemas.openxmlformats.org/drawingml/2006/main" cx="10972800" cy="3333750"/>
        </p:xfrm>
        <a:graphic xmlns:a="http://schemas.openxmlformats.org/drawingml/2006/main">
          <a:graphicData uri="http://schemas.openxmlformats.org/drawingml/2006/table">
            <a:tbl>
              <a:tblPr/>
              <a:tblGrid>
                <a:gridCol w="2857500"/>
                <a:gridCol w="4057650"/>
                <a:gridCol w="4057650"/>
              </a:tblGrid>
              <a:tr h="666750">
                <a:tc>
                  <a:txBody>
                    <a:bodyPr/>
                    <a:lstStyle/>
                    <a:p>
                      <a:r>
                        <a:rPr sz="1800" b="1">
                          <a:solidFill>
                            <a:srgbClr val="FFFFFF"/>
                          </a:solidFill>
                          <a:latin typeface="Aptos"/>
                          <a:ea typeface="Aptos"/>
                          <a:cs typeface="Aptos"/>
                        </a:rPr>
                        <a:t>Đặc điểm</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DC-VIC</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AFP-GIC</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66750">
                <a:tc>
                  <a:txBody>
                    <a:bodyPr/>
                    <a:lstStyle/>
                    <a:p>
                      <a:r>
                        <a:rPr sz="1800" b="0">
                          <a:solidFill>
                            <a:srgbClr val="102B40"/>
                          </a:solidFill>
                          <a:latin typeface="Aptos"/>
                          <a:ea typeface="Aptos"/>
                          <a:cs typeface="Aptos"/>
                        </a:rPr>
                        <a:t>Prior dựng ảnh</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VQGAN codebook</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AdaCode hợp nhất codebook</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00" b="0">
                          <a:solidFill>
                            <a:srgbClr val="102B40"/>
                          </a:solidFill>
                          <a:latin typeface="Aptos"/>
                          <a:ea typeface="Aptos"/>
                          <a:cs typeface="Aptos"/>
                        </a:rPr>
                        <a:t>Decoder dự đoán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Token qua CNN / Swin</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Prior qua convolution</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66750">
                <a:tc>
                  <a:txBody>
                    <a:bodyPr/>
                    <a:lstStyle/>
                    <a:p>
                      <a:r>
                        <a:rPr sz="1800" b="0">
                          <a:solidFill>
                            <a:srgbClr val="102B40"/>
                          </a:solidFill>
                          <a:latin typeface="Aptos"/>
                          <a:ea typeface="Aptos"/>
                          <a:cs typeface="Aptos"/>
                        </a:rPr>
                        <a:t>Điều chế feature</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SFT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SFT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00" b="0">
                          <a:solidFill>
                            <a:srgbClr val="102B40"/>
                          </a:solidFill>
                          <a:latin typeface="Aptos"/>
                          <a:ea typeface="Aptos"/>
                          <a:cs typeface="Aptos"/>
                        </a:rPr>
                        <a:t>Pilot trong repo</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Checkpoint PatchGAN</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Release strict-load</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7713F720-909A-4860-B9BF-BC47DE9D0A44}"/>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Entropy prior mô hình hóa xác suất. Generative prior hỗ trợ dựng ảnh.</a:t>
            </a:r>
          </a:p>
        </p:txBody>
      </p:sp>
    </p:spTree>
    <p:extLst>
      <p:ext uri="{BB962C8B-B14F-4D97-AF65-F5344CB8AC3E}">
        <p14:creationId xmlns:p14="http://schemas.microsoft.com/office/powerpoint/2010/main" val="120311984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CE8ABF3-264D-4D7C-91B0-D06184894DF0}"/>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CRDR có hai nút điều khiển</a:t>
            </a:r>
          </a:p>
        </p:txBody>
      </p:sp>
      <p:sp>
        <p:nvSpPr>
          <p:cNvPr id="2" name="">
            <a:extLst xmlns:a="http://schemas.openxmlformats.org/drawingml/2006/main">
              <a:ext uri="{FF2B5EF4-FFF2-40B4-BE49-F238E27FC236}">
                <a16:creationId xmlns:a16="http://schemas.microsoft.com/office/drawing/2014/main" id="{940DD6B7-F7E0-4AD0-ABE5-E8883BBE9AFB}"/>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20</a:t>
            </a:r>
          </a:p>
        </p:txBody>
      </p:sp>
      <p:sp>
        <p:nvSpPr>
          <p:cNvPr id="3" name="">
            <a:extLst xmlns:a="http://schemas.openxmlformats.org/drawingml/2006/main">
              <a:ext uri="{FF2B5EF4-FFF2-40B4-BE49-F238E27FC236}">
                <a16:creationId xmlns:a16="http://schemas.microsoft.com/office/drawing/2014/main" id="{118526B8-9665-4572-A985-377F26EB7EF4}"/>
              </a:ext>
            </a:extLst>
          </p:cNvPr>
          <p:cNvSpPr>
            <a:spLocks xmlns:a="http://schemas.openxmlformats.org/drawingml/2006/main" noGrp="1"/>
          </p:cNvSpPr>
          <p:nvPr/>
        </p:nvSpPr>
        <p:spPr>
          <a:xfrm xmlns:a="http://schemas.openxmlformats.org/drawingml/2006/main">
            <a:off x="609600" y="17621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q điều khiển rate</a:t>
            </a:r>
          </a:p>
        </p:txBody>
      </p:sp>
      <p:sp>
        <p:nvSpPr>
          <p:cNvPr id="4" name="">
            <a:extLst xmlns:a="http://schemas.openxmlformats.org/drawingml/2006/main">
              <a:ext uri="{FF2B5EF4-FFF2-40B4-BE49-F238E27FC236}">
                <a16:creationId xmlns:a16="http://schemas.microsoft.com/office/drawing/2014/main" id="{D449AD67-0A1C-415D-BCA3-9C168DACDF4A}"/>
              </a:ext>
            </a:extLst>
          </p:cNvPr>
          <p:cNvSpPr>
            <a:spLocks xmlns:a="http://schemas.openxmlformats.org/drawingml/2006/main" noGrp="1"/>
          </p:cNvSpPr>
          <p:nvPr/>
        </p:nvSpPr>
        <p:spPr>
          <a:xfrm xmlns:a="http://schemas.openxmlformats.org/drawingml/2006/main">
            <a:off x="6438900" y="17621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β điều khiển realism</a:t>
            </a:r>
          </a:p>
        </p:txBody>
      </p:sp>
      <p:sp>
        <p:nvSpPr>
          <p:cNvPr id="5" name="">
            <a:extLst xmlns:a="http://schemas.openxmlformats.org/drawingml/2006/main">
              <a:ext uri="{FF2B5EF4-FFF2-40B4-BE49-F238E27FC236}">
                <a16:creationId xmlns:a16="http://schemas.microsoft.com/office/drawing/2014/main" id="{83106004-64A5-4488-B30F-1AAEC39F5876}"/>
              </a:ext>
            </a:extLst>
          </p:cNvPr>
          <p:cNvSpPr>
            <a:spLocks xmlns:a="http://schemas.openxmlformats.org/drawingml/2006/main" noGrp="1"/>
          </p:cNvSpPr>
          <p:nvPr/>
        </p:nvSpPr>
        <p:spPr>
          <a:xfrm xmlns:a="http://schemas.openxmlformats.org/drawingml/2006/main">
            <a:off x="609600" y="2447925"/>
            <a:ext cx="50101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Encoder kiểu ELIC.</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Entropy model theo kênh.</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Interpolation Channel Attention thích nghi quality.</a:t>
            </a:r>
          </a:p>
        </p:txBody>
      </p:sp>
      <p:sp>
        <p:nvSpPr>
          <p:cNvPr id="6" name="">
            <a:extLst xmlns:a="http://schemas.openxmlformats.org/drawingml/2006/main">
              <a:ext uri="{FF2B5EF4-FFF2-40B4-BE49-F238E27FC236}">
                <a16:creationId xmlns:a16="http://schemas.microsoft.com/office/drawing/2014/main" id="{61B98AE5-ED3E-485B-9BFD-2235B2DEB4A0}"/>
              </a:ext>
            </a:extLst>
          </p:cNvPr>
          <p:cNvSpPr>
            <a:spLocks xmlns:a="http://schemas.openxmlformats.org/drawingml/2006/main" noGrp="1"/>
          </p:cNvSpPr>
          <p:nvPr/>
        </p:nvSpPr>
        <p:spPr>
          <a:xfrm xmlns:a="http://schemas.openxmlformats.org/drawingml/2006/main">
            <a:off x="6438900" y="2447925"/>
            <a:ext cx="51054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Fourier embedding và MLP.</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Generator điều chỉnh cách dựng ảnh.</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HRRGAN hỗ trợ training.</a:t>
            </a:r>
          </a:p>
        </p:txBody>
      </p:sp>
      <p:sp>
        <p:nvSpPr>
          <p:cNvPr id="7" name="">
            <a:extLst xmlns:a="http://schemas.openxmlformats.org/drawingml/2006/main">
              <a:ext uri="{FF2B5EF4-FFF2-40B4-BE49-F238E27FC236}">
                <a16:creationId xmlns:a16="http://schemas.microsoft.com/office/drawing/2014/main" id="{8BF4B405-8432-4FBA-951C-1A3ACB9A72F9}"/>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Repo nén một lần cho mỗi ảnh/q rồi thử nhiều beta.</a:t>
            </a:r>
          </a:p>
        </p:txBody>
      </p:sp>
    </p:spTree>
    <p:extLst>
      <p:ext uri="{BB962C8B-B14F-4D97-AF65-F5344CB8AC3E}">
        <p14:creationId xmlns:p14="http://schemas.microsoft.com/office/powerpoint/2010/main" val="54361797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D4F582-DE6F-4B45-86E9-C1AB8416E98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Cool-Chic chuyển chi phí sang encoder</a:t>
            </a:r>
          </a:p>
        </p:txBody>
      </p:sp>
      <p:sp>
        <p:nvSpPr>
          <p:cNvPr id="2" name="">
            <a:extLst xmlns:a="http://schemas.openxmlformats.org/drawingml/2006/main">
              <a:ext uri="{FF2B5EF4-FFF2-40B4-BE49-F238E27FC236}">
                <a16:creationId xmlns:a16="http://schemas.microsoft.com/office/drawing/2014/main" id="{4CCE2B7F-33DC-4B30-9B3F-C05E94E4E9E9}"/>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21</a:t>
            </a:r>
          </a:p>
        </p:txBody>
      </p:sp>
      <p:sp>
        <p:nvSpPr>
          <p:cNvPr id="3" name="">
            <a:extLst xmlns:a="http://schemas.openxmlformats.org/drawingml/2006/main">
              <a:ext uri="{FF2B5EF4-FFF2-40B4-BE49-F238E27FC236}">
                <a16:creationId xmlns:a16="http://schemas.microsoft.com/office/drawing/2014/main" id="{B4307515-98B1-4C96-9D83-1BC7FF31ECB6}"/>
              </a:ext>
            </a:extLst>
          </p:cNvPr>
          <p:cNvSpPr>
            <a:spLocks xmlns:a="http://schemas.openxmlformats.org/drawingml/2006/main" noGrp="1"/>
          </p:cNvSpPr>
          <p:nvPr/>
        </p:nvSpPr>
        <p:spPr>
          <a:xfrm xmlns:a="http://schemas.openxmlformats.org/drawingml/2006/main">
            <a:off x="609600" y="17907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Mỗi ảnh có latent phân cấp và tham số mạng riêng.</a:t>
            </a:r>
          </a:p>
        </p:txBody>
      </p:sp>
      <p:sp>
        <p:nvSpPr>
          <p:cNvPr id="4" name="">
            <a:extLst xmlns:a="http://schemas.openxmlformats.org/drawingml/2006/main">
              <a:ext uri="{FF2B5EF4-FFF2-40B4-BE49-F238E27FC236}">
                <a16:creationId xmlns:a16="http://schemas.microsoft.com/office/drawing/2014/main" id="{351B92D9-1532-4873-9FAF-74F7D36C58F7}"/>
              </a:ext>
            </a:extLst>
          </p:cNvPr>
          <p:cNvSpPr>
            <a:spLocks xmlns:a="http://schemas.openxmlformats.org/drawingml/2006/main" noGrp="1"/>
          </p:cNvSpPr>
          <p:nvPr/>
        </p:nvSpPr>
        <p:spPr>
          <a:xfrm xmlns:a="http://schemas.openxmlformats.org/drawingml/2006/main">
            <a:off x="609600" y="28194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Entropy model dùng ngữ cảnh nhân quả.</a:t>
            </a:r>
          </a:p>
        </p:txBody>
      </p:sp>
      <p:sp>
        <p:nvSpPr>
          <p:cNvPr id="5" name="">
            <a:extLst xmlns:a="http://schemas.openxmlformats.org/drawingml/2006/main">
              <a:ext uri="{FF2B5EF4-FFF2-40B4-BE49-F238E27FC236}">
                <a16:creationId xmlns:a16="http://schemas.microsoft.com/office/drawing/2014/main" id="{C2E55D4B-F821-4FD0-854D-B8441480486B}"/>
              </a:ext>
            </a:extLst>
          </p:cNvPr>
          <p:cNvSpPr>
            <a:spLocks xmlns:a="http://schemas.openxmlformats.org/drawingml/2006/main" noGrp="1"/>
          </p:cNvSpPr>
          <p:nvPr/>
        </p:nvSpPr>
        <p:spPr>
          <a:xfrm xmlns:a="http://schemas.openxmlformats.org/drawingml/2006/main">
            <a:off x="609600" y="3848100"/>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Decoder dựng RGB từ latent nhiều resolution và mạng nhỏ.</a:t>
            </a:r>
          </a:p>
        </p:txBody>
      </p:sp>
      <p:sp>
        <p:nvSpPr>
          <p:cNvPr id="6" name="">
            <a:extLst xmlns:a="http://schemas.openxmlformats.org/drawingml/2006/main">
              <a:ext uri="{FF2B5EF4-FFF2-40B4-BE49-F238E27FC236}">
                <a16:creationId xmlns:a16="http://schemas.microsoft.com/office/drawing/2014/main" id="{AF33F962-1832-4713-8FA8-50737AA329D8}"/>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Probe một ảnh chưa ủng hộ quét hàng loạt. Cần thử đúng dải 0.075–0.3 bpp.</a:t>
            </a:r>
          </a:p>
        </p:txBody>
      </p:sp>
    </p:spTree>
    <p:extLst>
      <p:ext uri="{BB962C8B-B14F-4D97-AF65-F5344CB8AC3E}">
        <p14:creationId xmlns:p14="http://schemas.microsoft.com/office/powerpoint/2010/main" val="163006183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C91EB4-6525-4D79-9B84-E8419CDFBCF5}"/>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VTM-SCC phục vụ ảnh chữ và màn hình</a:t>
            </a:r>
          </a:p>
        </p:txBody>
      </p:sp>
      <p:sp>
        <p:nvSpPr>
          <p:cNvPr id="2" name="">
            <a:extLst xmlns:a="http://schemas.openxmlformats.org/drawingml/2006/main">
              <a:ext uri="{FF2B5EF4-FFF2-40B4-BE49-F238E27FC236}">
                <a16:creationId xmlns:a16="http://schemas.microsoft.com/office/drawing/2014/main" id="{CC31E0AC-119E-47FA-BE3D-3A9D6710EB42}"/>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22</a:t>
            </a:r>
          </a:p>
        </p:txBody>
      </p:sp>
      <p:graphicFrame>
        <p:nvGraphicFramePr>
          <p:cNvPr id="3" name="">
            <a:extLst xmlns:a="http://schemas.openxmlformats.org/drawingml/2006/main">
              <a:ext uri="{FF2B5EF4-FFF2-40B4-BE49-F238E27FC236}">
                <a16:creationId xmlns:a16="http://schemas.microsoft.com/office/drawing/2014/main" id="{408A222D-08D1-4F60-BBC6-5821E2EF7E05}"/>
              </a:ext>
            </a:extLst>
          </p:cNvPr>
          <p:cNvGraphicFramePr/>
          <p:nvPr/>
        </p:nvGraphicFramePr>
        <p:xfrm>
          <a:off xmlns:a="http://schemas.openxmlformats.org/drawingml/2006/main" x="609600" y="1790700"/>
          <a:ext xmlns:a="http://schemas.openxmlformats.org/drawingml/2006/main" cx="10972800" cy="3143250"/>
        </p:xfrm>
        <a:graphic xmlns:a="http://schemas.openxmlformats.org/drawingml/2006/main">
          <a:graphicData uri="http://schemas.openxmlformats.org/drawingml/2006/table">
            <a:tbl>
              <a:tblPr/>
              <a:tblGrid>
                <a:gridCol w="4191000"/>
                <a:gridCol w="6781800"/>
              </a:tblGrid>
              <a:tr h="628650">
                <a:tc>
                  <a:txBody>
                    <a:bodyPr/>
                    <a:lstStyle/>
                    <a:p>
                      <a:r>
                        <a:rPr sz="1875" b="1">
                          <a:solidFill>
                            <a:srgbClr val="FFFFFF"/>
                          </a:solidFill>
                          <a:latin typeface="Aptos"/>
                          <a:ea typeface="Aptos"/>
                          <a:cs typeface="Aptos"/>
                        </a:rPr>
                        <a:t>Công cụ</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Vai trò</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28650">
                <a:tc>
                  <a:txBody>
                    <a:bodyPr/>
                    <a:lstStyle/>
                    <a:p>
                      <a:r>
                        <a:rPr sz="1875" b="0">
                          <a:solidFill>
                            <a:srgbClr val="102B40"/>
                          </a:solidFill>
                          <a:latin typeface="Aptos"/>
                          <a:ea typeface="Aptos"/>
                          <a:cs typeface="Aptos"/>
                        </a:rPr>
                        <a:t>Intra Block Copy</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Tham chiếu cấu trúc đã có trong cùng ảnh</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28650">
                <a:tc>
                  <a:txBody>
                    <a:bodyPr/>
                    <a:lstStyle/>
                    <a:p>
                      <a:r>
                        <a:rPr sz="1875" b="0">
                          <a:solidFill>
                            <a:srgbClr val="102B40"/>
                          </a:solidFill>
                          <a:latin typeface="Aptos"/>
                          <a:ea typeface="Aptos"/>
                          <a:cs typeface="Aptos"/>
                        </a:rPr>
                        <a:t>Palette</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Biểu diễn vùng có ít màu</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28650">
                <a:tc>
                  <a:txBody>
                    <a:bodyPr/>
                    <a:lstStyle/>
                    <a:p>
                      <a:r>
                        <a:rPr sz="1875" b="0">
                          <a:solidFill>
                            <a:srgbClr val="102B40"/>
                          </a:solidFill>
                          <a:latin typeface="Aptos"/>
                          <a:ea typeface="Aptos"/>
                          <a:cs typeface="Aptos"/>
                        </a:rPr>
                        <a:t>Transform skip / BDPCM</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Mã hóa residual phù hợp nội dung screen</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28650">
                <a:tc>
                  <a:txBody>
                    <a:bodyPr/>
                    <a:lstStyle/>
                    <a:p>
                      <a:r>
                        <a:rPr sz="1875" b="0">
                          <a:solidFill>
                            <a:srgbClr val="102B40"/>
                          </a:solidFill>
                          <a:latin typeface="Aptos"/>
                          <a:ea typeface="Aptos"/>
                          <a:cs typeface="Aptos"/>
                        </a:rPr>
                        <a:t>Cấu hình repo</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VTM-SCC 4:4:4, đối chiếu VTM 4:2:0</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A2A02148-9FDF-467A-B0E5-B58E98BE4441}"/>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Ưu tiên theo dữ liệu từng ảnh. Chưa có bộ phát hiện screen hoàn chỉnh.</a:t>
            </a:r>
          </a:p>
        </p:txBody>
      </p:sp>
    </p:spTree>
    <p:extLst>
      <p:ext uri="{BB962C8B-B14F-4D97-AF65-F5344CB8AC3E}">
        <p14:creationId xmlns:p14="http://schemas.microsoft.com/office/powerpoint/2010/main" val="142919786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51EF20D-6E6E-4848-A249-CE465B2DCDFD}"/>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S1 và SD-Turbo là các nhánh nội bộ</a:t>
            </a:r>
          </a:p>
        </p:txBody>
      </p:sp>
      <p:sp>
        <p:nvSpPr>
          <p:cNvPr id="2" name="">
            <a:extLst xmlns:a="http://schemas.openxmlformats.org/drawingml/2006/main">
              <a:ext uri="{FF2B5EF4-FFF2-40B4-BE49-F238E27FC236}">
                <a16:creationId xmlns:a16="http://schemas.microsoft.com/office/drawing/2014/main" id="{48529841-5CD0-44E9-B3AA-E385C4FF9E02}"/>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23</a:t>
            </a:r>
          </a:p>
        </p:txBody>
      </p:sp>
      <p:sp>
        <p:nvSpPr>
          <p:cNvPr id="3" name="">
            <a:extLst xmlns:a="http://schemas.openxmlformats.org/drawingml/2006/main">
              <a:ext uri="{FF2B5EF4-FFF2-40B4-BE49-F238E27FC236}">
                <a16:creationId xmlns:a16="http://schemas.microsoft.com/office/drawing/2014/main" id="{78455008-8344-4DB8-A16E-867D5B3BB6BB}"/>
              </a:ext>
            </a:extLst>
          </p:cNvPr>
          <p:cNvSpPr>
            <a:spLocks xmlns:a="http://schemas.openxmlformats.org/drawingml/2006/main" noGrp="1"/>
          </p:cNvSpPr>
          <p:nvPr/>
        </p:nvSpPr>
        <p:spPr>
          <a:xfrm xmlns:a="http://schemas.openxmlformats.org/drawingml/2006/main">
            <a:off x="609600" y="17621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S1 latent codec</a:t>
            </a:r>
          </a:p>
        </p:txBody>
      </p:sp>
      <p:sp>
        <p:nvSpPr>
          <p:cNvPr id="4" name="">
            <a:extLst xmlns:a="http://schemas.openxmlformats.org/drawingml/2006/main">
              <a:ext uri="{FF2B5EF4-FFF2-40B4-BE49-F238E27FC236}">
                <a16:creationId xmlns:a16="http://schemas.microsoft.com/office/drawing/2014/main" id="{386152F2-0752-4503-9535-36B9DA624E4A}"/>
              </a:ext>
            </a:extLst>
          </p:cNvPr>
          <p:cNvSpPr>
            <a:spLocks xmlns:a="http://schemas.openxmlformats.org/drawingml/2006/main" noGrp="1"/>
          </p:cNvSpPr>
          <p:nvPr/>
        </p:nvSpPr>
        <p:spPr>
          <a:xfrm xmlns:a="http://schemas.openxmlformats.org/drawingml/2006/main">
            <a:off x="6438900" y="17621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SD-Turbo refiner</a:t>
            </a:r>
          </a:p>
        </p:txBody>
      </p:sp>
      <p:sp>
        <p:nvSpPr>
          <p:cNvPr id="5" name="">
            <a:extLst xmlns:a="http://schemas.openxmlformats.org/drawingml/2006/main">
              <a:ext uri="{FF2B5EF4-FFF2-40B4-BE49-F238E27FC236}">
                <a16:creationId xmlns:a16="http://schemas.microsoft.com/office/drawing/2014/main" id="{90DD5644-9E60-4F6B-A25A-B524B1E3F1F9}"/>
              </a:ext>
            </a:extLst>
          </p:cNvPr>
          <p:cNvSpPr>
            <a:spLocks xmlns:a="http://schemas.openxmlformats.org/drawingml/2006/main" noGrp="1"/>
          </p:cNvSpPr>
          <p:nvPr/>
        </p:nvSpPr>
        <p:spPr>
          <a:xfrm xmlns:a="http://schemas.openxmlformats.org/drawingml/2006/main">
            <a:off x="609600" y="2447925"/>
            <a:ext cx="50101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DC-AE tạo latent 32 kênh.</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ResBlock, gain theo rate và hyperprior.</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Loss rate cộng MSE latent.</a:t>
            </a:r>
          </a:p>
        </p:txBody>
      </p:sp>
      <p:sp>
        <p:nvSpPr>
          <p:cNvPr id="6" name="">
            <a:extLst xmlns:a="http://schemas.openxmlformats.org/drawingml/2006/main">
              <a:ext uri="{FF2B5EF4-FFF2-40B4-BE49-F238E27FC236}">
                <a16:creationId xmlns:a16="http://schemas.microsoft.com/office/drawing/2014/main" id="{18E60D84-428B-45F2-9772-F493A350BB5E}"/>
              </a:ext>
            </a:extLst>
          </p:cNvPr>
          <p:cNvSpPr>
            <a:spLocks xmlns:a="http://schemas.openxmlformats.org/drawingml/2006/main" noGrp="1"/>
          </p:cNvSpPr>
          <p:nvPr/>
        </p:nvSpPr>
        <p:spPr>
          <a:xfrm xmlns:a="http://schemas.openxmlformats.org/drawingml/2006/main">
            <a:off x="6438900" y="2447925"/>
            <a:ext cx="51054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Nhận reconstruction MS-ILLM.</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Hậu xử lý bằng img2img.</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Tăng chi phí decoder và có thể đổi chi tiết.</a:t>
            </a:r>
          </a:p>
        </p:txBody>
      </p:sp>
      <p:sp>
        <p:nvSpPr>
          <p:cNvPr id="7" name="">
            <a:extLst xmlns:a="http://schemas.openxmlformats.org/drawingml/2006/main">
              <a:ext uri="{FF2B5EF4-FFF2-40B4-BE49-F238E27FC236}">
                <a16:creationId xmlns:a16="http://schemas.microsoft.com/office/drawing/2014/main" id="{22A3E3B3-CE7A-4A76-AA92-78201D2E47E6}"/>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Các nhánh này chưa phải phương án submission đã xác nhận.</a:t>
            </a:r>
          </a:p>
        </p:txBody>
      </p:sp>
    </p:spTree>
    <p:extLst>
      <p:ext uri="{BB962C8B-B14F-4D97-AF65-F5344CB8AC3E}">
        <p14:creationId xmlns:p14="http://schemas.microsoft.com/office/powerpoint/2010/main" val="1524669661"/>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BB4178-EE86-4AB0-A71A-D5410E8ED005}"/>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DiT-IC có lợi thế trong bake-off rate thấp</a:t>
            </a:r>
          </a:p>
        </p:txBody>
      </p:sp>
      <p:sp>
        <p:nvSpPr>
          <p:cNvPr id="2" name="">
            <a:extLst xmlns:a="http://schemas.openxmlformats.org/drawingml/2006/main">
              <a:ext uri="{FF2B5EF4-FFF2-40B4-BE49-F238E27FC236}">
                <a16:creationId xmlns:a16="http://schemas.microsoft.com/office/drawing/2014/main" id="{13FED9EB-1608-4977-AD60-7C0827C1C343}"/>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24</a:t>
            </a:r>
          </a:p>
        </p:txBody>
      </p:sp>
      <p:graphicFrame>
        <p:nvGraphicFramePr>
          <p:cNvPr id="3" name="Chart">
            <a:extLst xmlns:a="http://schemas.openxmlformats.org/drawingml/2006/main">
              <a:ext uri="{FF2B5EF4-FFF2-40B4-BE49-F238E27FC236}">
                <a16:creationId xmlns:a16="http://schemas.microsoft.com/office/drawing/2014/main" id="{C0925141-FF4D-49F7-990B-F692594063A0}"/>
              </a:ext>
            </a:extLst>
          </p:cNvPr>
          <p:cNvGraphicFramePr/>
          <p:nvPr/>
        </p:nvGraphicFramePr>
        <p:xfrm>
          <a:off xmlns:a="http://schemas.openxmlformats.org/drawingml/2006/main" x="609600" y="1695450"/>
          <a:ext xmlns:a="http://schemas.openxmlformats.org/drawingml/2006/main" cx="10782300" cy="3667125"/>
        </p:xfrm>
        <a:graphic xmlns:a="http://schemas.openxmlformats.org/drawingml/2006/main">
          <a:graphicData uri="http://schemas.openxmlformats.org/drawingml/2006/chart">
            <c:chart xmlns:r="http://schemas.openxmlformats.org/officeDocument/2006/relationships" xmlns:c="http://schemas.openxmlformats.org/drawingml/2006/chart" r:id="R304502f2fc6c493f"/>
          </a:graphicData>
        </a:graphic>
      </p:graphicFrame>
      <p:sp>
        <p:nvSpPr>
          <p:cNvPr id="4" name="">
            <a:extLst xmlns:a="http://schemas.openxmlformats.org/drawingml/2006/main">
              <a:ext uri="{FF2B5EF4-FFF2-40B4-BE49-F238E27FC236}">
                <a16:creationId xmlns:a16="http://schemas.microsoft.com/office/drawing/2014/main" id="{163BDE45-4164-46FD-9B12-DFD161167EA4}"/>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30 ảnh, budget 0.075 bpp. Snapshot trước tích hợp PULSE-L.</a:t>
            </a:r>
          </a:p>
        </p:txBody>
      </p:sp>
    </p:spTree>
    <p:extLst>
      <p:ext uri="{BB962C8B-B14F-4D97-AF65-F5344CB8AC3E}">
        <p14:creationId xmlns:p14="http://schemas.microsoft.com/office/powerpoint/2010/main" val="55597679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6E303DB-8196-4090-ADE8-32BA7469646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PULSE-L nâng Q̂ của mix ở rate cao hơn</a:t>
            </a:r>
          </a:p>
        </p:txBody>
      </p:sp>
      <p:sp>
        <p:nvSpPr>
          <p:cNvPr id="2" name="">
            <a:extLst xmlns:a="http://schemas.openxmlformats.org/drawingml/2006/main">
              <a:ext uri="{FF2B5EF4-FFF2-40B4-BE49-F238E27FC236}">
                <a16:creationId xmlns:a16="http://schemas.microsoft.com/office/drawing/2014/main" id="{64EFD5E3-FFC5-4250-9F7C-8EC4D67A34F3}"/>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25</a:t>
            </a:r>
          </a:p>
        </p:txBody>
      </p:sp>
      <p:graphicFrame>
        <p:nvGraphicFramePr>
          <p:cNvPr id="3" name="Chart">
            <a:extLst xmlns:a="http://schemas.openxmlformats.org/drawingml/2006/main">
              <a:ext uri="{FF2B5EF4-FFF2-40B4-BE49-F238E27FC236}">
                <a16:creationId xmlns:a16="http://schemas.microsoft.com/office/drawing/2014/main" id="{DE3EB493-9E0E-4DC3-A803-F5B50E5DFF6E}"/>
              </a:ext>
            </a:extLst>
          </p:cNvPr>
          <p:cNvGraphicFramePr/>
          <p:nvPr/>
        </p:nvGraphicFramePr>
        <p:xfrm>
          <a:off xmlns:a="http://schemas.openxmlformats.org/drawingml/2006/main" x="609600" y="1695450"/>
          <a:ext xmlns:a="http://schemas.openxmlformats.org/drawingml/2006/main" cx="10782300" cy="3667125"/>
        </p:xfrm>
        <a:graphic xmlns:a="http://schemas.openxmlformats.org/drawingml/2006/main">
          <a:graphicData uri="http://schemas.openxmlformats.org/drawingml/2006/chart">
            <c:chart xmlns:r="http://schemas.openxmlformats.org/officeDocument/2006/relationships" xmlns:c="http://schemas.openxmlformats.org/drawingml/2006/chart" r:id="R26e84302805342ea"/>
          </a:graphicData>
        </a:graphic>
      </p:graphicFrame>
      <p:sp>
        <p:nvSpPr>
          <p:cNvPr id="4" name="">
            <a:extLst xmlns:a="http://schemas.openxmlformats.org/drawingml/2006/main">
              <a:ext uri="{FF2B5EF4-FFF2-40B4-BE49-F238E27FC236}">
                <a16:creationId xmlns:a16="http://schemas.microsoft.com/office/drawing/2014/main" id="{5EC796CF-E0B8-46E6-AD13-F436E3D58F97}"/>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Q̂ v0 trên 30 ảnh. Chưa có chấm mù cho mix mới.</a:t>
            </a:r>
          </a:p>
        </p:txBody>
      </p:sp>
    </p:spTree>
    <p:extLst>
      <p:ext uri="{BB962C8B-B14F-4D97-AF65-F5344CB8AC3E}">
        <p14:creationId xmlns:p14="http://schemas.microsoft.com/office/powerpoint/2010/main" val="67693431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FE01A4-7A3E-47DD-A74B-75ECBCE297E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PULSE-L chiếm 22 trong 30 lựa chọn</a:t>
            </a:r>
          </a:p>
        </p:txBody>
      </p:sp>
      <p:sp>
        <p:nvSpPr>
          <p:cNvPr id="2" name="">
            <a:extLst xmlns:a="http://schemas.openxmlformats.org/drawingml/2006/main">
              <a:ext uri="{FF2B5EF4-FFF2-40B4-BE49-F238E27FC236}">
                <a16:creationId xmlns:a16="http://schemas.microsoft.com/office/drawing/2014/main" id="{C04C6CF8-B0FD-4087-A650-CDB5364F34F0}"/>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26</a:t>
            </a:r>
          </a:p>
        </p:txBody>
      </p:sp>
      <p:graphicFrame>
        <p:nvGraphicFramePr>
          <p:cNvPr id="3" name="Chart">
            <a:extLst xmlns:a="http://schemas.openxmlformats.org/drawingml/2006/main">
              <a:ext uri="{FF2B5EF4-FFF2-40B4-BE49-F238E27FC236}">
                <a16:creationId xmlns:a16="http://schemas.microsoft.com/office/drawing/2014/main" id="{E23B2BF8-040A-4A86-915E-A8659D25EB93}"/>
              </a:ext>
            </a:extLst>
          </p:cNvPr>
          <p:cNvGraphicFramePr/>
          <p:nvPr/>
        </p:nvGraphicFramePr>
        <p:xfrm>
          <a:off xmlns:a="http://schemas.openxmlformats.org/drawingml/2006/main" x="609600" y="1695450"/>
          <a:ext xmlns:a="http://schemas.openxmlformats.org/drawingml/2006/main" cx="10782300" cy="3667125"/>
        </p:xfrm>
        <a:graphic xmlns:a="http://schemas.openxmlformats.org/drawingml/2006/main">
          <a:graphicData uri="http://schemas.openxmlformats.org/drawingml/2006/chart">
            <c:chart xmlns:r="http://schemas.openxmlformats.org/officeDocument/2006/relationships" xmlns:c="http://schemas.openxmlformats.org/drawingml/2006/chart" r:id="Rfecc3bb626974c45"/>
          </a:graphicData>
        </a:graphic>
      </p:graphicFrame>
      <p:sp>
        <p:nvSpPr>
          <p:cNvPr id="4" name="">
            <a:extLst xmlns:a="http://schemas.openxmlformats.org/drawingml/2006/main">
              <a:ext uri="{FF2B5EF4-FFF2-40B4-BE49-F238E27FC236}">
                <a16:creationId xmlns:a16="http://schemas.microsoft.com/office/drawing/2014/main" id="{5D44CEC4-A701-4B6B-80AC-3BE9D141F3E4}"/>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Allocation tại 0.3 bpp, vòng tích hợp PULSE-L q0–q4.</a:t>
            </a:r>
          </a:p>
        </p:txBody>
      </p:sp>
    </p:spTree>
    <p:extLst>
      <p:ext uri="{BB962C8B-B14F-4D97-AF65-F5344CB8AC3E}">
        <p14:creationId xmlns:p14="http://schemas.microsoft.com/office/powerpoint/2010/main" val="206122800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B17622-2C8F-4F97-8696-5E533BEA715B}"/>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Chấm mù sơ bộ ủng hộ DiT-IC trên ảnh tự nhiên</a:t>
            </a:r>
          </a:p>
        </p:txBody>
      </p:sp>
      <p:sp>
        <p:nvSpPr>
          <p:cNvPr id="2" name="">
            <a:extLst xmlns:a="http://schemas.openxmlformats.org/drawingml/2006/main">
              <a:ext uri="{FF2B5EF4-FFF2-40B4-BE49-F238E27FC236}">
                <a16:creationId xmlns:a16="http://schemas.microsoft.com/office/drawing/2014/main" id="{1FCF309C-FCDA-4BAB-AC6F-0D0D50B70734}"/>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27</a:t>
            </a:r>
          </a:p>
        </p:txBody>
      </p:sp>
      <p:graphicFrame>
        <p:nvGraphicFramePr>
          <p:cNvPr id="3" name="Chart">
            <a:extLst xmlns:a="http://schemas.openxmlformats.org/drawingml/2006/main">
              <a:ext uri="{FF2B5EF4-FFF2-40B4-BE49-F238E27FC236}">
                <a16:creationId xmlns:a16="http://schemas.microsoft.com/office/drawing/2014/main" id="{0092C8E5-96BD-4C37-BB2D-58DAA63243AC}"/>
              </a:ext>
            </a:extLst>
          </p:cNvPr>
          <p:cNvGraphicFramePr/>
          <p:nvPr/>
        </p:nvGraphicFramePr>
        <p:xfrm>
          <a:off xmlns:a="http://schemas.openxmlformats.org/drawingml/2006/main" x="609600" y="1695450"/>
          <a:ext xmlns:a="http://schemas.openxmlformats.org/drawingml/2006/main" cx="10782300" cy="3667125"/>
        </p:xfrm>
        <a:graphic xmlns:a="http://schemas.openxmlformats.org/drawingml/2006/main">
          <a:graphicData uri="http://schemas.openxmlformats.org/drawingml/2006/chart">
            <c:chart xmlns:r="http://schemas.openxmlformats.org/officeDocument/2006/relationships" xmlns:c="http://schemas.openxmlformats.org/drawingml/2006/chart" r:id="R001d9930ce894fb0"/>
          </a:graphicData>
        </a:graphic>
      </p:graphicFrame>
      <p:sp>
        <p:nvSpPr>
          <p:cNvPr id="4" name="">
            <a:extLst xmlns:a="http://schemas.openxmlformats.org/drawingml/2006/main">
              <a:ext uri="{FF2B5EF4-FFF2-40B4-BE49-F238E27FC236}">
                <a16:creationId xmlns:a16="http://schemas.microsoft.com/office/drawing/2014/main" id="{42CC0D75-22BA-459C-937A-99F4FE12539C}"/>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Một người chấm, 0.075 bpp toàn tập. Cần thêm người chấm và ảnh holdout.</a:t>
            </a:r>
          </a:p>
        </p:txBody>
      </p:sp>
    </p:spTree>
    <p:extLst>
      <p:ext uri="{BB962C8B-B14F-4D97-AF65-F5344CB8AC3E}">
        <p14:creationId xmlns:p14="http://schemas.microsoft.com/office/powerpoint/2010/main" val="170985150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408192-0E24-434E-9146-1C7217E5CDB6}"/>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Student DiT-IC đánh đổi chất lượng để tăng tốc</a:t>
            </a:r>
          </a:p>
        </p:txBody>
      </p:sp>
      <p:sp>
        <p:nvSpPr>
          <p:cNvPr id="2" name="">
            <a:extLst xmlns:a="http://schemas.openxmlformats.org/drawingml/2006/main">
              <a:ext uri="{FF2B5EF4-FFF2-40B4-BE49-F238E27FC236}">
                <a16:creationId xmlns:a16="http://schemas.microsoft.com/office/drawing/2014/main" id="{02655A5B-3CF8-4569-B3D2-9081B2021716}"/>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28</a:t>
            </a:r>
          </a:p>
        </p:txBody>
      </p:sp>
      <p:graphicFrame>
        <p:nvGraphicFramePr>
          <p:cNvPr id="3" name="Chart">
            <a:extLst xmlns:a="http://schemas.openxmlformats.org/drawingml/2006/main">
              <a:ext uri="{FF2B5EF4-FFF2-40B4-BE49-F238E27FC236}">
                <a16:creationId xmlns:a16="http://schemas.microsoft.com/office/drawing/2014/main" id="{FC52761A-873B-4B33-8F10-6C0F8FD8B129}"/>
              </a:ext>
            </a:extLst>
          </p:cNvPr>
          <p:cNvGraphicFramePr/>
          <p:nvPr/>
        </p:nvGraphicFramePr>
        <p:xfrm>
          <a:off xmlns:a="http://schemas.openxmlformats.org/drawingml/2006/main" x="609600" y="1695450"/>
          <a:ext xmlns:a="http://schemas.openxmlformats.org/drawingml/2006/main" cx="10782300" cy="3667125"/>
        </p:xfrm>
        <a:graphic xmlns:a="http://schemas.openxmlformats.org/drawingml/2006/main">
          <a:graphicData uri="http://schemas.openxmlformats.org/drawingml/2006/chart">
            <c:chart xmlns:r="http://schemas.openxmlformats.org/officeDocument/2006/relationships" xmlns:c="http://schemas.openxmlformats.org/drawingml/2006/chart" r:id="Re8d805d166cb4a5f"/>
          </a:graphicData>
        </a:graphic>
      </p:graphicFrame>
      <p:sp>
        <p:nvSpPr>
          <p:cNvPr id="4" name="">
            <a:extLst xmlns:a="http://schemas.openxmlformats.org/drawingml/2006/main">
              <a:ext uri="{FF2B5EF4-FFF2-40B4-BE49-F238E27FC236}">
                <a16:creationId xmlns:a16="http://schemas.microsoft.com/office/drawing/2014/main" id="{E3F8FCD0-30CD-4561-A8FD-D22F7BECA998}"/>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Student giảm Q̂ khoảng 0.13–0.17 điểm. Chưa nên mặc định thay teacher.</a:t>
            </a:r>
          </a:p>
        </p:txBody>
      </p:sp>
    </p:spTree>
    <p:extLst>
      <p:ext uri="{BB962C8B-B14F-4D97-AF65-F5344CB8AC3E}">
        <p14:creationId xmlns:p14="http://schemas.microsoft.com/office/powerpoint/2010/main" val="115116229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61C766-1EC6-487F-ADE8-DD1765C3C63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Ghi PNG là nút thắt trong gói PULSE-L</a:t>
            </a:r>
          </a:p>
        </p:txBody>
      </p:sp>
      <p:sp>
        <p:nvSpPr>
          <p:cNvPr id="2" name="">
            <a:extLst xmlns:a="http://schemas.openxmlformats.org/drawingml/2006/main">
              <a:ext uri="{FF2B5EF4-FFF2-40B4-BE49-F238E27FC236}">
                <a16:creationId xmlns:a16="http://schemas.microsoft.com/office/drawing/2014/main" id="{5F424978-3D19-4F57-813A-B1737A9E5AAF}"/>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29</a:t>
            </a:r>
          </a:p>
        </p:txBody>
      </p:sp>
      <p:graphicFrame>
        <p:nvGraphicFramePr>
          <p:cNvPr id="3" name="Chart">
            <a:extLst xmlns:a="http://schemas.openxmlformats.org/drawingml/2006/main">
              <a:ext uri="{FF2B5EF4-FFF2-40B4-BE49-F238E27FC236}">
                <a16:creationId xmlns:a16="http://schemas.microsoft.com/office/drawing/2014/main" id="{9F94875F-6C28-4BD3-BE69-886C7D507BF7}"/>
              </a:ext>
            </a:extLst>
          </p:cNvPr>
          <p:cNvGraphicFramePr/>
          <p:nvPr/>
        </p:nvGraphicFramePr>
        <p:xfrm>
          <a:off xmlns:a="http://schemas.openxmlformats.org/drawingml/2006/main" x="609600" y="1695450"/>
          <a:ext xmlns:a="http://schemas.openxmlformats.org/drawingml/2006/main" cx="10782300" cy="3667125"/>
        </p:xfrm>
        <a:graphic xmlns:a="http://schemas.openxmlformats.org/drawingml/2006/main">
          <a:graphicData uri="http://schemas.openxmlformats.org/drawingml/2006/chart">
            <c:chart xmlns:r="http://schemas.openxmlformats.org/officeDocument/2006/relationships" xmlns:c="http://schemas.openxmlformats.org/drawingml/2006/chart" r:id="R4c825f9de3964cad"/>
          </a:graphicData>
        </a:graphic>
      </p:graphicFrame>
      <p:sp>
        <p:nvSpPr>
          <p:cNvPr id="4" name="">
            <a:extLst xmlns:a="http://schemas.openxmlformats.org/drawingml/2006/main">
              <a:ext uri="{FF2B5EF4-FFF2-40B4-BE49-F238E27FC236}">
                <a16:creationId xmlns:a16="http://schemas.microsoft.com/office/drawing/2014/main" id="{B8C742F2-03F4-4ED1-98E5-FD28E854F3AD}"/>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Đơn vị giây / 30 ảnh. Cả hai cấu hình đều khớp pixel 30/30.</a:t>
            </a:r>
          </a:p>
        </p:txBody>
      </p:sp>
    </p:spTree>
    <p:extLst>
      <p:ext uri="{BB962C8B-B14F-4D97-AF65-F5344CB8AC3E}">
        <p14:creationId xmlns:p14="http://schemas.microsoft.com/office/powerpoint/2010/main" val="1630286207"/>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4E16DF-F353-4F7B-B765-2A46214A3B1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Phạm vi đã kiểm của gói PULSE-L</a:t>
            </a:r>
          </a:p>
        </p:txBody>
      </p:sp>
      <p:sp>
        <p:nvSpPr>
          <p:cNvPr id="2" name="">
            <a:extLst xmlns:a="http://schemas.openxmlformats.org/drawingml/2006/main">
              <a:ext uri="{FF2B5EF4-FFF2-40B4-BE49-F238E27FC236}">
                <a16:creationId xmlns:a16="http://schemas.microsoft.com/office/drawing/2014/main" id="{36233081-AD1D-4871-9248-90FE61A669D7}"/>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30</a:t>
            </a:r>
          </a:p>
        </p:txBody>
      </p:sp>
      <p:graphicFrame>
        <p:nvGraphicFramePr>
          <p:cNvPr id="3" name="">
            <a:extLst xmlns:a="http://schemas.openxmlformats.org/drawingml/2006/main">
              <a:ext uri="{FF2B5EF4-FFF2-40B4-BE49-F238E27FC236}">
                <a16:creationId xmlns:a16="http://schemas.microsoft.com/office/drawing/2014/main" id="{3C9833BC-EFB5-4514-8E50-7E0090C5DCEE}"/>
              </a:ext>
            </a:extLst>
          </p:cNvPr>
          <p:cNvGraphicFramePr/>
          <p:nvPr/>
        </p:nvGraphicFramePr>
        <p:xfrm>
          <a:off xmlns:a="http://schemas.openxmlformats.org/drawingml/2006/main" x="609600" y="1790700"/>
          <a:ext xmlns:a="http://schemas.openxmlformats.org/drawingml/2006/main" cx="10972800" cy="3333750"/>
        </p:xfrm>
        <a:graphic xmlns:a="http://schemas.openxmlformats.org/drawingml/2006/main">
          <a:graphicData uri="http://schemas.openxmlformats.org/drawingml/2006/table">
            <a:tbl>
              <a:tblPr/>
              <a:tblGrid>
                <a:gridCol w="3048000"/>
                <a:gridCol w="2857500"/>
                <a:gridCol w="5067300"/>
              </a:tblGrid>
              <a:tr h="666750">
                <a:tc>
                  <a:txBody>
                    <a:bodyPr/>
                    <a:lstStyle/>
                    <a:p>
                      <a:r>
                        <a:rPr sz="1800" b="1">
                          <a:solidFill>
                            <a:srgbClr val="FFFFFF"/>
                          </a:solidFill>
                          <a:latin typeface="Aptos"/>
                          <a:ea typeface="Aptos"/>
                          <a:cs typeface="Aptos"/>
                        </a:rPr>
                        <a:t>Đại lượng</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Kết quả</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Phạm vi</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66750">
                <a:tc>
                  <a:txBody>
                    <a:bodyPr/>
                    <a:lstStyle/>
                    <a:p>
                      <a:r>
                        <a:rPr sz="1800" b="0">
                          <a:solidFill>
                            <a:srgbClr val="102B40"/>
                          </a:solidFill>
                          <a:latin typeface="Aptos"/>
                          <a:ea typeface="Aptos"/>
                          <a:cs typeface="Aptos"/>
                        </a:rPr>
                        <a:t>Pixel parity</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30/30 ảnh</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Tiến trình mới trên L40</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00" b="0">
                          <a:solidFill>
                            <a:srgbClr val="102B40"/>
                          </a:solidFill>
                          <a:latin typeface="Aptos"/>
                          <a:ea typeface="Aptos"/>
                          <a:cs typeface="Aptos"/>
                        </a:rPr>
                        <a:t>Tổng wall time</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12.235 giây</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Gồm unzip, load và ghi PNG</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66750">
                <a:tc>
                  <a:txBody>
                    <a:bodyPr/>
                    <a:lstStyle/>
                    <a:p>
                      <a:r>
                        <a:rPr sz="1800" b="0">
                          <a:solidFill>
                            <a:srgbClr val="102B40"/>
                          </a:solidFill>
                          <a:latin typeface="Aptos"/>
                          <a:ea typeface="Aptos"/>
                          <a:cs typeface="Aptos"/>
                        </a:rPr>
                        <a:t>ZIP decoder</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74.7 MB</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Chưa gộp toàn bộ dependencies</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00" b="0">
                          <a:solidFill>
                            <a:srgbClr val="102B40"/>
                          </a:solidFill>
                          <a:latin typeface="Aptos"/>
                          <a:ea typeface="Aptos"/>
                          <a:cs typeface="Aptos"/>
                        </a:rPr>
                        <a:t>VRAM cao nhất</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5,920 MiB</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Toàn lượt tích hợp, tổng thiết bị</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CD7CE6C5-8126-4617-BDAE-D069644E7D5A}"/>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Chưa đo gói toàn mix và chưa kiểm trên L4.</a:t>
            </a:r>
          </a:p>
        </p:txBody>
      </p:sp>
    </p:spTree>
    <p:extLst>
      <p:ext uri="{BB962C8B-B14F-4D97-AF65-F5344CB8AC3E}">
        <p14:creationId xmlns:p14="http://schemas.microsoft.com/office/powerpoint/2010/main" val="6020052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FABBA3-8D1E-4C85-BADB-DB052005D9E2}"/>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Tính tất định cần kiểm ở nhiều tầng</a:t>
            </a:r>
          </a:p>
        </p:txBody>
      </p:sp>
      <p:sp>
        <p:nvSpPr>
          <p:cNvPr id="2" name="">
            <a:extLst xmlns:a="http://schemas.openxmlformats.org/drawingml/2006/main">
              <a:ext uri="{FF2B5EF4-FFF2-40B4-BE49-F238E27FC236}">
                <a16:creationId xmlns:a16="http://schemas.microsoft.com/office/drawing/2014/main" id="{AB7A3E85-7D1B-4ED6-ABB5-DFF3CEE7AE6C}"/>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31</a:t>
            </a:r>
          </a:p>
        </p:txBody>
      </p:sp>
      <p:graphicFrame>
        <p:nvGraphicFramePr>
          <p:cNvPr id="3" name="">
            <a:extLst xmlns:a="http://schemas.openxmlformats.org/drawingml/2006/main">
              <a:ext uri="{FF2B5EF4-FFF2-40B4-BE49-F238E27FC236}">
                <a16:creationId xmlns:a16="http://schemas.microsoft.com/office/drawing/2014/main" id="{174D661B-F08B-4931-8537-E3973D99F3F6}"/>
              </a:ext>
            </a:extLst>
          </p:cNvPr>
          <p:cNvGraphicFramePr/>
          <p:nvPr/>
        </p:nvGraphicFramePr>
        <p:xfrm>
          <a:off xmlns:a="http://schemas.openxmlformats.org/drawingml/2006/main" x="609600" y="1790700"/>
          <a:ext xmlns:a="http://schemas.openxmlformats.org/drawingml/2006/main" cx="10972800" cy="3286125"/>
        </p:xfrm>
        <a:graphic xmlns:a="http://schemas.openxmlformats.org/drawingml/2006/main">
          <a:graphicData uri="http://schemas.openxmlformats.org/drawingml/2006/table">
            <a:tbl>
              <a:tblPr/>
              <a:tblGrid>
                <a:gridCol w="3524250"/>
                <a:gridCol w="7448550"/>
              </a:tblGrid>
              <a:tr h="657225">
                <a:tc>
                  <a:txBody>
                    <a:bodyPr/>
                    <a:lstStyle/>
                    <a:p>
                      <a:r>
                        <a:rPr sz="1875" b="1">
                          <a:solidFill>
                            <a:srgbClr val="FFFFFF"/>
                          </a:solidFill>
                          <a:latin typeface="Aptos"/>
                          <a:ea typeface="Aptos"/>
                          <a:cs typeface="Aptos"/>
                        </a:rPr>
                        <a:t>Tầng kiểm tra</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Câu hỏi</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57225">
                <a:tc>
                  <a:txBody>
                    <a:bodyPr/>
                    <a:lstStyle/>
                    <a:p>
                      <a:r>
                        <a:rPr sz="1875" b="0">
                          <a:solidFill>
                            <a:srgbClr val="102B40"/>
                          </a:solidFill>
                          <a:latin typeface="Aptos"/>
                          <a:ea typeface="Aptos"/>
                          <a:cs typeface="Aptos"/>
                        </a:rPr>
                        <a:t>Bitstream và metadata</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Decoder có đọc đúng payload, mode và kích thước?</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57225">
                <a:tc>
                  <a:txBody>
                    <a:bodyPr/>
                    <a:lstStyle/>
                    <a:p>
                      <a:r>
                        <a:rPr sz="1875" b="0">
                          <a:solidFill>
                            <a:srgbClr val="102B40"/>
                          </a:solidFill>
                          <a:latin typeface="Aptos"/>
                          <a:ea typeface="Aptos"/>
                          <a:cs typeface="Aptos"/>
                        </a:rPr>
                        <a:t>CDF / symbol / latent</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Entropy decoder có tái tạo cùng giá trị rời rạc?</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57225">
                <a:tc>
                  <a:txBody>
                    <a:bodyPr/>
                    <a:lstStyle/>
                    <a:p>
                      <a:r>
                        <a:rPr sz="1875" b="0">
                          <a:solidFill>
                            <a:srgbClr val="102B40"/>
                          </a:solidFill>
                          <a:latin typeface="Aptos"/>
                          <a:ea typeface="Aptos"/>
                          <a:cs typeface="Aptos"/>
                        </a:rPr>
                        <a:t>Pixel đầu ra</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Synthesis và chuyển uint8 có tạo cùng PNG?</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57225">
                <a:tc>
                  <a:txBody>
                    <a:bodyPr/>
                    <a:lstStyle/>
                    <a:p>
                      <a:r>
                        <a:rPr sz="1875" b="0">
                          <a:solidFill>
                            <a:srgbClr val="102B40"/>
                          </a:solidFill>
                          <a:latin typeface="Aptos"/>
                          <a:ea typeface="Aptos"/>
                          <a:cs typeface="Aptos"/>
                        </a:rPr>
                        <a:t>Môi trường đích</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Kết quả có giữ trên hai máy L4 độc lập?</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BEFC1A13-0C70-47AF-B8C6-8A605315BFA0}"/>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MS-ILLM deterministic: parity 5/5, metadata thực thêm 120 byte cho mix.</a:t>
            </a:r>
          </a:p>
        </p:txBody>
      </p:sp>
    </p:spTree>
    <p:extLst>
      <p:ext uri="{BB962C8B-B14F-4D97-AF65-F5344CB8AC3E}">
        <p14:creationId xmlns:p14="http://schemas.microsoft.com/office/powerpoint/2010/main" val="107956410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F3BB9A0-ADD1-4B05-B50B-6768EC59F4B9}"/>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Những kết luận hiện tại còn có giới hạn</a:t>
            </a:r>
          </a:p>
        </p:txBody>
      </p:sp>
      <p:sp>
        <p:nvSpPr>
          <p:cNvPr id="2" name="">
            <a:extLst xmlns:a="http://schemas.openxmlformats.org/drawingml/2006/main">
              <a:ext uri="{FF2B5EF4-FFF2-40B4-BE49-F238E27FC236}">
                <a16:creationId xmlns:a16="http://schemas.microsoft.com/office/drawing/2014/main" id="{361E2211-4548-4471-98AC-F322B90B8C97}"/>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32</a:t>
            </a:r>
          </a:p>
        </p:txBody>
      </p:sp>
      <p:graphicFrame>
        <p:nvGraphicFramePr>
          <p:cNvPr id="3" name="">
            <a:extLst xmlns:a="http://schemas.openxmlformats.org/drawingml/2006/main">
              <a:ext uri="{FF2B5EF4-FFF2-40B4-BE49-F238E27FC236}">
                <a16:creationId xmlns:a16="http://schemas.microsoft.com/office/drawing/2014/main" id="{260FB66F-1B3D-4A29-B4C1-53A2A14A6AAB}"/>
              </a:ext>
            </a:extLst>
          </p:cNvPr>
          <p:cNvGraphicFramePr/>
          <p:nvPr/>
        </p:nvGraphicFramePr>
        <p:xfrm>
          <a:off xmlns:a="http://schemas.openxmlformats.org/drawingml/2006/main" x="609600" y="1790700"/>
          <a:ext xmlns:a="http://schemas.openxmlformats.org/drawingml/2006/main" cx="10972800" cy="3190875"/>
        </p:xfrm>
        <a:graphic xmlns:a="http://schemas.openxmlformats.org/drawingml/2006/main">
          <a:graphicData uri="http://schemas.openxmlformats.org/drawingml/2006/table">
            <a:tbl>
              <a:tblPr/>
              <a:tblGrid>
                <a:gridCol w="5286375"/>
                <a:gridCol w="5686425"/>
              </a:tblGrid>
              <a:tr h="638175">
                <a:tc>
                  <a:txBody>
                    <a:bodyPr/>
                    <a:lstStyle/>
                    <a:p>
                      <a:r>
                        <a:rPr sz="1875" b="1">
                          <a:solidFill>
                            <a:srgbClr val="FFFFFF"/>
                          </a:solidFill>
                          <a:latin typeface="Aptos"/>
                          <a:ea typeface="Aptos"/>
                          <a:cs typeface="Aptos"/>
                        </a:rPr>
                        <a:t>Đã có bằng chứng</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Cần kiểm tiếp</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38175">
                <a:tc>
                  <a:txBody>
                    <a:bodyPr/>
                    <a:lstStyle/>
                    <a:p>
                      <a:r>
                        <a:rPr sz="1875" b="0">
                          <a:solidFill>
                            <a:srgbClr val="102B40"/>
                          </a:solidFill>
                          <a:latin typeface="Aptos"/>
                          <a:ea typeface="Aptos"/>
                          <a:cs typeface="Aptos"/>
                        </a:rPr>
                        <a:t>Mix tăng Q̂ trên validation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Preference nhiều người và holdout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38175">
                <a:tc>
                  <a:txBody>
                    <a:bodyPr/>
                    <a:lstStyle/>
                    <a:p>
                      <a:r>
                        <a:rPr sz="1875" b="0">
                          <a:solidFill>
                            <a:srgbClr val="102B40"/>
                          </a:solidFill>
                          <a:latin typeface="Aptos"/>
                          <a:ea typeface="Aptos"/>
                          <a:cs typeface="Aptos"/>
                        </a:rPr>
                        <a:t>PULSE-L offline trên L40</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Gói toàn mix và L4</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38175">
                <a:tc>
                  <a:txBody>
                    <a:bodyPr/>
                    <a:lstStyle/>
                    <a:p>
                      <a:r>
                        <a:rPr sz="1875" b="0">
                          <a:solidFill>
                            <a:srgbClr val="102B40"/>
                          </a:solidFill>
                          <a:latin typeface="Aptos"/>
                          <a:ea typeface="Aptos"/>
                          <a:cs typeface="Aptos"/>
                        </a:rPr>
                        <a:t>MS-ILLM parity 5 ảnh</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Chấm lại output và parity toàn tập</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38175">
                <a:tc>
                  <a:txBody>
                    <a:bodyPr/>
                    <a:lstStyle/>
                    <a:p>
                      <a:r>
                        <a:rPr sz="1875" b="0">
                          <a:solidFill>
                            <a:srgbClr val="102B40"/>
                          </a:solidFill>
                          <a:latin typeface="Aptos"/>
                          <a:ea typeface="Aptos"/>
                          <a:cs typeface="Aptos"/>
                        </a:rPr>
                        <a:t>Nhiều model chạy được</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Dung lượng, dependencies và giấy phép gói cuối</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77B4E5AF-2226-4A21-B2A8-010D2B332B01}"/>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Ưu tiên kiểm khoảng trống có thể làm thay đổi quyết định chọn model.</a:t>
            </a:r>
          </a:p>
        </p:txBody>
      </p:sp>
    </p:spTree>
    <p:extLst>
      <p:ext uri="{BB962C8B-B14F-4D97-AF65-F5344CB8AC3E}">
        <p14:creationId xmlns:p14="http://schemas.microsoft.com/office/powerpoint/2010/main" val="71332014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41696D-291C-4D06-B4EA-1578DA454E35}"/>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Hướng A: chọn codec có tính chi phí load</a:t>
            </a:r>
          </a:p>
        </p:txBody>
      </p:sp>
      <p:sp>
        <p:nvSpPr>
          <p:cNvPr id="2" name="">
            <a:extLst xmlns:a="http://schemas.openxmlformats.org/drawingml/2006/main">
              <a:ext uri="{FF2B5EF4-FFF2-40B4-BE49-F238E27FC236}">
                <a16:creationId xmlns:a16="http://schemas.microsoft.com/office/drawing/2014/main" id="{53EC7BDB-995A-40B0-B441-0075C11110E3}"/>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33</a:t>
            </a:r>
          </a:p>
        </p:txBody>
      </p:sp>
      <p:sp>
        <p:nvSpPr>
          <p:cNvPr id="3" name="">
            <a:extLst xmlns:a="http://schemas.openxmlformats.org/drawingml/2006/main">
              <a:ext uri="{FF2B5EF4-FFF2-40B4-BE49-F238E27FC236}">
                <a16:creationId xmlns:a16="http://schemas.microsoft.com/office/drawing/2014/main" id="{E30B6E12-A737-4D24-8153-7651FC1A3D7E}"/>
              </a:ext>
            </a:extLst>
          </p:cNvPr>
          <p:cNvSpPr>
            <a:spLocks xmlns:a="http://schemas.openxmlformats.org/drawingml/2006/main" noGrp="1"/>
          </p:cNvSpPr>
          <p:nvPr/>
        </p:nvSpPr>
        <p:spPr>
          <a:xfrm xmlns:a="http://schemas.openxmlformats.org/drawingml/2006/main">
            <a:off x="609600" y="19050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007F78"/>
                </a:solidFill>
                <a:latin typeface="Aptos"/>
                <a:ea typeface="Aptos"/>
                <a:cs typeface="Aptos"/>
              </a:defRPr>
            </a:defPPr>
          </a:lstStyle>
          <a:p xmlns:a="http://schemas.openxmlformats.org/drawingml/2006/main">
            <a:pPr>
              <a:defRPr sz="3225" b="1">
                <a:solidFill>
                  <a:srgbClr val="007F78"/>
                </a:solidFill>
                <a:latin typeface="Aptos"/>
                <a:ea typeface="Aptos"/>
                <a:cs typeface="Aptos"/>
              </a:defRPr>
            </a:pPr>
            <a:r>
              <a:rPr sz="3225" b="1">
                <a:solidFill>
                  <a:srgbClr val="007F78"/>
                </a:solidFill>
                <a:latin typeface="Aptos"/>
                <a:ea typeface="Aptos"/>
                <a:cs typeface="Aptos"/>
              </a:rPr>
              <a:t>T ≈ Σᵢ t(i, jᵢ) + Σc a(c) ℓ(c)</a:t>
            </a:r>
          </a:p>
        </p:txBody>
      </p:sp>
      <p:sp>
        <p:nvSpPr>
          <p:cNvPr id="4" name="">
            <a:extLst xmlns:a="http://schemas.openxmlformats.org/drawingml/2006/main">
              <a:ext uri="{FF2B5EF4-FFF2-40B4-BE49-F238E27FC236}">
                <a16:creationId xmlns:a16="http://schemas.microsoft.com/office/drawing/2014/main" id="{B3EF44C3-A42C-465E-8FAE-912CC921A927}"/>
              </a:ext>
            </a:extLst>
          </p:cNvPr>
          <p:cNvSpPr>
            <a:spLocks xmlns:a="http://schemas.openxmlformats.org/drawingml/2006/main" noGrp="1"/>
          </p:cNvSpPr>
          <p:nvPr/>
        </p:nvSpPr>
        <p:spPr>
          <a:xfrm xmlns:a="http://schemas.openxmlformats.org/drawingml/2006/main">
            <a:off x="609600" y="31432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t(i, jᵢ): thời gian decode của lựa chọn cho ảnh i.</a:t>
            </a:r>
          </a:p>
        </p:txBody>
      </p:sp>
      <p:sp>
        <p:nvSpPr>
          <p:cNvPr id="5" name="">
            <a:extLst xmlns:a="http://schemas.openxmlformats.org/drawingml/2006/main">
              <a:ext uri="{FF2B5EF4-FFF2-40B4-BE49-F238E27FC236}">
                <a16:creationId xmlns:a16="http://schemas.microsoft.com/office/drawing/2014/main" id="{F4E08605-EEFB-4948-B8BE-9908BB3309F3}"/>
              </a:ext>
            </a:extLst>
          </p:cNvPr>
          <p:cNvSpPr>
            <a:spLocks xmlns:a="http://schemas.openxmlformats.org/drawingml/2006/main" noGrp="1"/>
          </p:cNvSpPr>
          <p:nvPr/>
        </p:nvSpPr>
        <p:spPr>
          <a:xfrm xmlns:a="http://schemas.openxmlformats.org/drawingml/2006/main">
            <a:off x="609600" y="39243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ℓ(c): chi phí nạp họ codec c, chỉ trả khi sử dụng.</a:t>
            </a:r>
          </a:p>
        </p:txBody>
      </p:sp>
      <p:sp>
        <p:nvSpPr>
          <p:cNvPr id="6" name="">
            <a:extLst xmlns:a="http://schemas.openxmlformats.org/drawingml/2006/main">
              <a:ext uri="{FF2B5EF4-FFF2-40B4-BE49-F238E27FC236}">
                <a16:creationId xmlns:a16="http://schemas.microsoft.com/office/drawing/2014/main" id="{F35D351E-80C3-4543-9014-4674AEDDA07E}"/>
              </a:ext>
            </a:extLst>
          </p:cNvPr>
          <p:cNvSpPr>
            <a:spLocks xmlns:a="http://schemas.openxmlformats.org/drawingml/2006/main" noGrp="1"/>
          </p:cNvSpPr>
          <p:nvPr/>
        </p:nvSpPr>
        <p:spPr>
          <a:xfrm xmlns:a="http://schemas.openxmlformats.org/drawingml/2006/main">
            <a:off x="609600" y="47053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Mục tiêu: chất lượng cao trong cả budget byte và wall time.</a:t>
            </a:r>
          </a:p>
        </p:txBody>
      </p:sp>
      <p:sp>
        <p:nvSpPr>
          <p:cNvPr id="7" name="">
            <a:extLst xmlns:a="http://schemas.openxmlformats.org/drawingml/2006/main">
              <a:ext uri="{FF2B5EF4-FFF2-40B4-BE49-F238E27FC236}">
                <a16:creationId xmlns:a16="http://schemas.microsoft.com/office/drawing/2014/main" id="{12A39275-9BF5-4E17-812F-5E0A1C173C17}"/>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Routing và knapsack đã có prior art. Tính mới cần kiểm bằng related work và ablation.</a:t>
            </a:r>
          </a:p>
        </p:txBody>
      </p:sp>
    </p:spTree>
    <p:extLst>
      <p:ext uri="{BB962C8B-B14F-4D97-AF65-F5344CB8AC3E}">
        <p14:creationId xmlns:p14="http://schemas.microsoft.com/office/powerpoint/2010/main" val="194646508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7741B9-D76D-440C-B7F4-D785405F7A55}"/>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Ablation cho bộ chọn codec</a:t>
            </a:r>
          </a:p>
        </p:txBody>
      </p:sp>
      <p:sp>
        <p:nvSpPr>
          <p:cNvPr id="2" name="">
            <a:extLst xmlns:a="http://schemas.openxmlformats.org/drawingml/2006/main">
              <a:ext uri="{FF2B5EF4-FFF2-40B4-BE49-F238E27FC236}">
                <a16:creationId xmlns:a16="http://schemas.microsoft.com/office/drawing/2014/main" id="{81A99800-AD7A-4734-BDAC-3F8F3B5E1CE8}"/>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34</a:t>
            </a:r>
          </a:p>
        </p:txBody>
      </p:sp>
      <p:graphicFrame>
        <p:nvGraphicFramePr>
          <p:cNvPr id="3" name="">
            <a:extLst xmlns:a="http://schemas.openxmlformats.org/drawingml/2006/main">
              <a:ext uri="{FF2B5EF4-FFF2-40B4-BE49-F238E27FC236}">
                <a16:creationId xmlns:a16="http://schemas.microsoft.com/office/drawing/2014/main" id="{D432B4B7-432F-4A6F-A376-22684B7A71FA}"/>
              </a:ext>
            </a:extLst>
          </p:cNvPr>
          <p:cNvGraphicFramePr/>
          <p:nvPr/>
        </p:nvGraphicFramePr>
        <p:xfrm>
          <a:off xmlns:a="http://schemas.openxmlformats.org/drawingml/2006/main" x="609600" y="1790700"/>
          <a:ext xmlns:a="http://schemas.openxmlformats.org/drawingml/2006/main" cx="10972800" cy="3333750"/>
        </p:xfrm>
        <a:graphic xmlns:a="http://schemas.openxmlformats.org/drawingml/2006/main">
          <a:graphicData uri="http://schemas.openxmlformats.org/drawingml/2006/table">
            <a:tbl>
              <a:tblPr/>
              <a:tblGrid>
                <a:gridCol w="1524000"/>
                <a:gridCol w="5048250"/>
                <a:gridCol w="4400550"/>
              </a:tblGrid>
              <a:tr h="666750">
                <a:tc>
                  <a:txBody>
                    <a:bodyPr/>
                    <a:lstStyle/>
                    <a:p>
                      <a:r>
                        <a:rPr sz="1800" b="1">
                          <a:solidFill>
                            <a:srgbClr val="FFFFFF"/>
                          </a:solidFill>
                          <a:latin typeface="Aptos"/>
                          <a:ea typeface="Aptos"/>
                          <a:cs typeface="Aptos"/>
                        </a:rPr>
                        <a:t>Nhánh</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Thay đổi</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Đầu ra cần so</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66750">
                <a:tc>
                  <a:txBody>
                    <a:bodyPr/>
                    <a:lstStyle/>
                    <a:p>
                      <a:r>
                        <a:rPr sz="1800" b="0">
                          <a:solidFill>
                            <a:srgbClr val="102B40"/>
                          </a:solidFill>
                          <a:latin typeface="Aptos"/>
                          <a:ea typeface="Aptos"/>
                          <a:cs typeface="Aptos"/>
                        </a:rPr>
                        <a:t>A0</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Chỉ ràng buộc byte</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Mốc baseline</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00" b="0">
                          <a:solidFill>
                            <a:srgbClr val="102B40"/>
                          </a:solidFill>
                          <a:latin typeface="Aptos"/>
                          <a:ea typeface="Aptos"/>
                          <a:cs typeface="Aptos"/>
                        </a:rPr>
                        <a:t>A1</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Thêm thời gian decode</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Chất lượng theo budget thời gian</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66750">
                <a:tc>
                  <a:txBody>
                    <a:bodyPr/>
                    <a:lstStyle/>
                    <a:p>
                      <a:r>
                        <a:rPr sz="1800" b="0">
                          <a:solidFill>
                            <a:srgbClr val="102B40"/>
                          </a:solidFill>
                          <a:latin typeface="Aptos"/>
                          <a:ea typeface="Aptos"/>
                          <a:cs typeface="Aptos"/>
                        </a:rPr>
                        <a:t>A2</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Thêm load dùng chung</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Wall time gói thật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00" b="0">
                          <a:solidFill>
                            <a:srgbClr val="102B40"/>
                          </a:solidFill>
                          <a:latin typeface="Aptos"/>
                          <a:ea typeface="Aptos"/>
                          <a:cs typeface="Aptos"/>
                        </a:rPr>
                        <a:t>A3</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Thêm bất định Q̂</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Preference và độ ổn định lựa chọn</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80A76E36-2224-4B4D-BF74-69B9EE21EDE2}"/>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Trạng thái: đề xuất. Chưa có kết quả thực nghiệm A0–A3 đầy đủ.</a:t>
            </a:r>
          </a:p>
        </p:txBody>
      </p:sp>
    </p:spTree>
    <p:extLst>
      <p:ext uri="{BB962C8B-B14F-4D97-AF65-F5344CB8AC3E}">
        <p14:creationId xmlns:p14="http://schemas.microsoft.com/office/powerpoint/2010/main" val="241725857"/>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297042-7378-40D9-A3D6-60246BE82E45}"/>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Hướng B: đưa PULSE-L xuống rate thấp</a:t>
            </a:r>
          </a:p>
        </p:txBody>
      </p:sp>
      <p:sp>
        <p:nvSpPr>
          <p:cNvPr id="2" name="">
            <a:extLst xmlns:a="http://schemas.openxmlformats.org/drawingml/2006/main">
              <a:ext uri="{FF2B5EF4-FFF2-40B4-BE49-F238E27FC236}">
                <a16:creationId xmlns:a16="http://schemas.microsoft.com/office/drawing/2014/main" id="{0A0B06B4-0FCB-4122-8B06-80158DDDBDCE}"/>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35</a:t>
            </a:r>
          </a:p>
        </p:txBody>
      </p:sp>
      <p:sp>
        <p:nvSpPr>
          <p:cNvPr id="3" name="">
            <a:extLst xmlns:a="http://schemas.openxmlformats.org/drawingml/2006/main">
              <a:ext uri="{FF2B5EF4-FFF2-40B4-BE49-F238E27FC236}">
                <a16:creationId xmlns:a16="http://schemas.microsoft.com/office/drawing/2014/main" id="{157BBDC8-A57F-43CB-80B6-5AE481DC4DBB}"/>
              </a:ext>
            </a:extLst>
          </p:cNvPr>
          <p:cNvSpPr>
            <a:spLocks xmlns:a="http://schemas.openxmlformats.org/drawingml/2006/main" noGrp="1"/>
          </p:cNvSpPr>
          <p:nvPr/>
        </p:nvSpPr>
        <p:spPr>
          <a:xfrm xmlns:a="http://schemas.openxmlformats.org/drawingml/2006/main">
            <a:off x="609600" y="1762125"/>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Fine-tune codec nhanh</a:t>
            </a:r>
          </a:p>
        </p:txBody>
      </p:sp>
      <p:sp>
        <p:nvSpPr>
          <p:cNvPr id="4" name="">
            <a:extLst xmlns:a="http://schemas.openxmlformats.org/drawingml/2006/main">
              <a:ext uri="{FF2B5EF4-FFF2-40B4-BE49-F238E27FC236}">
                <a16:creationId xmlns:a16="http://schemas.microsoft.com/office/drawing/2014/main" id="{CE743F11-C2FC-4EC9-A7C7-C673240447BC}"/>
              </a:ext>
            </a:extLst>
          </p:cNvPr>
          <p:cNvSpPr>
            <a:spLocks xmlns:a="http://schemas.openxmlformats.org/drawingml/2006/main" noGrp="1"/>
          </p:cNvSpPr>
          <p:nvPr/>
        </p:nvSpPr>
        <p:spPr>
          <a:xfrm xmlns:a="http://schemas.openxmlformats.org/drawingml/2006/main">
            <a:off x="6438900" y="176212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007F78"/>
                </a:solidFill>
                <a:latin typeface="Aptos"/>
                <a:ea typeface="Aptos"/>
                <a:cs typeface="Aptos"/>
              </a:defRPr>
            </a:defPPr>
          </a:lstStyle>
          <a:p xmlns:a="http://schemas.openxmlformats.org/drawingml/2006/main">
            <a:pPr>
              <a:defRPr sz="2250" b="1">
                <a:solidFill>
                  <a:srgbClr val="007F78"/>
                </a:solidFill>
                <a:latin typeface="Aptos"/>
                <a:ea typeface="Aptos"/>
                <a:cs typeface="Aptos"/>
              </a:defRPr>
            </a:pPr>
            <a:r>
              <a:rPr sz="2250" b="1">
                <a:solidFill>
                  <a:srgbClr val="007F78"/>
                </a:solidFill>
                <a:latin typeface="Aptos"/>
                <a:ea typeface="Aptos"/>
                <a:cs typeface="Aptos"/>
              </a:rPr>
              <a:t>Distillation có kiểm soát</a:t>
            </a:r>
          </a:p>
        </p:txBody>
      </p:sp>
      <p:sp>
        <p:nvSpPr>
          <p:cNvPr id="5" name="">
            <a:extLst xmlns:a="http://schemas.openxmlformats.org/drawingml/2006/main">
              <a:ext uri="{FF2B5EF4-FFF2-40B4-BE49-F238E27FC236}">
                <a16:creationId xmlns:a16="http://schemas.microsoft.com/office/drawing/2014/main" id="{96D4A077-2E5E-47BB-881D-AF251C8603E6}"/>
              </a:ext>
            </a:extLst>
          </p:cNvPr>
          <p:cNvSpPr>
            <a:spLocks xmlns:a="http://schemas.openxmlformats.org/drawingml/2006/main" noGrp="1"/>
          </p:cNvSpPr>
          <p:nvPr/>
        </p:nvSpPr>
        <p:spPr>
          <a:xfrm xmlns:a="http://schemas.openxmlformats.org/drawingml/2006/main">
            <a:off x="609600" y="2447925"/>
            <a:ext cx="501015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Điều chỉnh rate conditioning và entropy model.</a:t>
            </a:r>
          </a:p>
          <a:p xmlns:a="http://schemas.openxmlformats.org/drawingml/2006/main">
            <a:r>
              <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Đo bpp bằng stream thật ở 0.075 / 0.15.</a:t>
            </a:r>
          </a:p>
        </p:txBody>
      </p:sp>
      <p:sp>
        <p:nvSpPr>
          <p:cNvPr id="6" name="">
            <a:extLst xmlns:a="http://schemas.openxmlformats.org/drawingml/2006/main">
              <a:ext uri="{FF2B5EF4-FFF2-40B4-BE49-F238E27FC236}">
                <a16:creationId xmlns:a16="http://schemas.microsoft.com/office/drawing/2014/main" id="{391B578B-4915-4216-B771-529A6F764E9B}"/>
              </a:ext>
            </a:extLst>
          </p:cNvPr>
          <p:cNvSpPr>
            <a:spLocks xmlns:a="http://schemas.openxmlformats.org/drawingml/2006/main" noGrp="1"/>
          </p:cNvSpPr>
          <p:nvPr/>
        </p:nvSpPr>
        <p:spPr>
          <a:xfrm xmlns:a="http://schemas.openxmlformats.org/drawingml/2006/main">
            <a:off x="6438900" y="2447925"/>
            <a:ext cx="5105400" cy="3095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B40"/>
                </a:solidFill>
                <a:latin typeface="Aptos"/>
                <a:ea typeface="Aptos"/>
                <a:cs typeface="Aptos"/>
              </a:defRPr>
            </a:defPPr>
          </a:lstStyle>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Teacher cung cấp mục tiêu trong image space.</a:t>
            </a:r>
          </a:p>
          <a:p xmlns:a="http://schemas.openxmlformats.org/drawingml/2006/main">
            <a:r>
              <a:t/>
            </a:r>
          </a:p>
          <a:p xmlns:a="http://schemas.openxmlformats.org/drawingml/2006/main">
            <a:pPr>
              <a:defRPr sz="2100" b="0">
                <a:solidFill>
                  <a:srgbClr val="102B40"/>
                </a:solidFill>
                <a:latin typeface="Aptos"/>
                <a:ea typeface="Aptos"/>
                <a:cs typeface="Aptos"/>
              </a:defRPr>
            </a:pPr>
            <a:r>
              <a:rPr sz="2100" b="0">
                <a:solidFill>
                  <a:srgbClr val="102B40"/>
                </a:solidFill>
                <a:latin typeface="Aptos"/>
                <a:ea typeface="Aptos"/>
                <a:cs typeface="Aptos"/>
              </a:rPr>
              <a:t>So trọng số đồng đều với trọng số theo vùng và độ tin cậy.</a:t>
            </a:r>
          </a:p>
        </p:txBody>
      </p:sp>
      <p:sp>
        <p:nvSpPr>
          <p:cNvPr id="7" name="">
            <a:extLst xmlns:a="http://schemas.openxmlformats.org/drawingml/2006/main">
              <a:ext uri="{FF2B5EF4-FFF2-40B4-BE49-F238E27FC236}">
                <a16:creationId xmlns:a16="http://schemas.microsoft.com/office/drawing/2014/main" id="{11A5661B-4CF7-4C53-8716-D7DF5603060D}"/>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ROI tự nó chưa mới. Cần chứng minh lợi ích riêng của độ tin cậy teacher.</a:t>
            </a:r>
          </a:p>
        </p:txBody>
      </p:sp>
    </p:spTree>
    <p:extLst>
      <p:ext uri="{BB962C8B-B14F-4D97-AF65-F5344CB8AC3E}">
        <p14:creationId xmlns:p14="http://schemas.microsoft.com/office/powerpoint/2010/main" val="179311593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015C98-8093-465F-8C52-640EA54D7DBE}"/>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Ablation B trong hạn mức 30 GB/GPU</a:t>
            </a:r>
          </a:p>
        </p:txBody>
      </p:sp>
      <p:sp>
        <p:nvSpPr>
          <p:cNvPr id="2" name="">
            <a:extLst xmlns:a="http://schemas.openxmlformats.org/drawingml/2006/main">
              <a:ext uri="{FF2B5EF4-FFF2-40B4-BE49-F238E27FC236}">
                <a16:creationId xmlns:a16="http://schemas.microsoft.com/office/drawing/2014/main" id="{3D68DE73-0FA7-4EF2-9920-24EE1C419D25}"/>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36</a:t>
            </a:r>
          </a:p>
        </p:txBody>
      </p:sp>
      <p:graphicFrame>
        <p:nvGraphicFramePr>
          <p:cNvPr id="3" name="">
            <a:extLst xmlns:a="http://schemas.openxmlformats.org/drawingml/2006/main">
              <a:ext uri="{FF2B5EF4-FFF2-40B4-BE49-F238E27FC236}">
                <a16:creationId xmlns:a16="http://schemas.microsoft.com/office/drawing/2014/main" id="{604C370E-F9DD-4F67-80F3-4E1B63867187}"/>
              </a:ext>
            </a:extLst>
          </p:cNvPr>
          <p:cNvGraphicFramePr/>
          <p:nvPr/>
        </p:nvGraphicFramePr>
        <p:xfrm>
          <a:off xmlns:a="http://schemas.openxmlformats.org/drawingml/2006/main" x="609600" y="1790700"/>
          <a:ext xmlns:a="http://schemas.openxmlformats.org/drawingml/2006/main" cx="10972800" cy="2667000"/>
        </p:xfrm>
        <a:graphic xmlns:a="http://schemas.openxmlformats.org/drawingml/2006/main">
          <a:graphicData uri="http://schemas.openxmlformats.org/drawingml/2006/table">
            <a:tbl>
              <a:tblPr/>
              <a:tblGrid>
                <a:gridCol w="2190750"/>
                <a:gridCol w="8782050"/>
              </a:tblGrid>
              <a:tr h="666750">
                <a:tc>
                  <a:txBody>
                    <a:bodyPr/>
                    <a:lstStyle/>
                    <a:p>
                      <a:r>
                        <a:rPr sz="1875" b="1">
                          <a:solidFill>
                            <a:srgbClr val="FFFFFF"/>
                          </a:solidFill>
                          <a:latin typeface="Aptos"/>
                          <a:ea typeface="Aptos"/>
                          <a:cs typeface="Aptos"/>
                        </a:rPr>
                        <a:t>Nhánh</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75" b="1">
                          <a:solidFill>
                            <a:srgbClr val="FFFFFF"/>
                          </a:solidFill>
                          <a:latin typeface="Aptos"/>
                          <a:ea typeface="Aptos"/>
                          <a:cs typeface="Aptos"/>
                        </a:rPr>
                        <a:t>Thiết lập</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66750">
                <a:tc>
                  <a:txBody>
                    <a:bodyPr/>
                    <a:lstStyle/>
                    <a:p>
                      <a:r>
                        <a:rPr sz="1875" b="0">
                          <a:solidFill>
                            <a:srgbClr val="102B40"/>
                          </a:solidFill>
                          <a:latin typeface="Aptos"/>
                          <a:ea typeface="Aptos"/>
                          <a:cs typeface="Aptos"/>
                        </a:rPr>
                        <a:t>B0</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PULSE-L fine-tune rate–distortion</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75" b="0">
                          <a:solidFill>
                            <a:srgbClr val="102B40"/>
                          </a:solidFill>
                          <a:latin typeface="Aptos"/>
                          <a:ea typeface="Aptos"/>
                          <a:cs typeface="Aptos"/>
                        </a:rPr>
                        <a:t>B1</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75" b="0">
                          <a:solidFill>
                            <a:srgbClr val="102B40"/>
                          </a:solidFill>
                          <a:latin typeface="Aptos"/>
                          <a:ea typeface="Aptos"/>
                          <a:cs typeface="Aptos"/>
                        </a:rPr>
                        <a:t>B0 cộng distillation đồng đều</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66750">
                <a:tc>
                  <a:txBody>
                    <a:bodyPr/>
                    <a:lstStyle/>
                    <a:p>
                      <a:r>
                        <a:rPr sz="1875" b="0">
                          <a:solidFill>
                            <a:srgbClr val="102B40"/>
                          </a:solidFill>
                          <a:latin typeface="Aptos"/>
                          <a:ea typeface="Aptos"/>
                          <a:cs typeface="Aptos"/>
                        </a:rPr>
                        <a:t>B2</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75" b="0">
                          <a:solidFill>
                            <a:srgbClr val="102B40"/>
                          </a:solidFill>
                          <a:latin typeface="Aptos"/>
                          <a:ea typeface="Aptos"/>
                          <a:cs typeface="Aptos"/>
                        </a:rPr>
                        <a:t>B1 cộng trọng số theo vùng / độ tin cậy</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85C3A80-9AFB-4C45-9200-E6C1518199A0}"/>
              </a:ext>
            </a:extLst>
          </p:cNvPr>
          <p:cNvSpPr>
            <a:spLocks xmlns:a="http://schemas.openxmlformats.org/drawingml/2006/main" noGrp="1"/>
          </p:cNvSpPr>
          <p:nvPr/>
        </p:nvSpPr>
        <p:spPr>
          <a:xfrm xmlns:a="http://schemas.openxmlformats.org/drawingml/2006/main">
            <a:off x="609600" y="4857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007F78"/>
                </a:solidFill>
                <a:latin typeface="Aptos"/>
                <a:ea typeface="Aptos"/>
                <a:cs typeface="Aptos"/>
              </a:defRPr>
            </a:defPPr>
          </a:lstStyle>
          <a:p xmlns:a="http://schemas.openxmlformats.org/drawingml/2006/main">
            <a:pPr>
              <a:defRPr sz="2100" b="1">
                <a:solidFill>
                  <a:srgbClr val="007F78"/>
                </a:solidFill>
                <a:latin typeface="Aptos"/>
                <a:ea typeface="Aptos"/>
                <a:cs typeface="Aptos"/>
              </a:defRPr>
            </a:pPr>
            <a:r>
              <a:rPr sz="2100" b="1">
                <a:solidFill>
                  <a:srgbClr val="007F78"/>
                </a:solidFill>
                <a:latin typeface="Aptos"/>
                <a:ea typeface="Aptos"/>
                <a:cs typeface="Aptos"/>
              </a:rPr>
              <a:t>Smoke 200–500 bước, sau đó tối đa 6 GPU-giờ/nhánh pilot.</a:t>
            </a:r>
          </a:p>
        </p:txBody>
      </p:sp>
      <p:sp>
        <p:nvSpPr>
          <p:cNvPr id="5" name="">
            <a:extLst xmlns:a="http://schemas.openxmlformats.org/drawingml/2006/main">
              <a:ext uri="{FF2B5EF4-FFF2-40B4-BE49-F238E27FC236}">
                <a16:creationId xmlns:a16="http://schemas.microsoft.com/office/drawing/2014/main" id="{A06E0B55-EAC4-461C-ACFA-25A67B21E45D}"/>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Giới hạn tổng bộ nhớ thiết bị: 30 GB mỗi GPU, tính cả tiến trình khác.</a:t>
            </a:r>
          </a:p>
        </p:txBody>
      </p:sp>
    </p:spTree>
    <p:extLst>
      <p:ext uri="{BB962C8B-B14F-4D97-AF65-F5344CB8AC3E}">
        <p14:creationId xmlns:p14="http://schemas.microsoft.com/office/powerpoint/2010/main" val="1919768620"/>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CBFBD43-7252-4707-A378-202915867A64}"/>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Thứ tự thực hiện và điều kiện chuyển bước</a:t>
            </a:r>
          </a:p>
        </p:txBody>
      </p:sp>
      <p:sp>
        <p:nvSpPr>
          <p:cNvPr id="2" name="">
            <a:extLst xmlns:a="http://schemas.openxmlformats.org/drawingml/2006/main">
              <a:ext uri="{FF2B5EF4-FFF2-40B4-BE49-F238E27FC236}">
                <a16:creationId xmlns:a16="http://schemas.microsoft.com/office/drawing/2014/main" id="{87007737-3A34-4B39-A646-B5901C14F0F0}"/>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37</a:t>
            </a:r>
          </a:p>
        </p:txBody>
      </p:sp>
      <p:graphicFrame>
        <p:nvGraphicFramePr>
          <p:cNvPr id="3" name="">
            <a:extLst xmlns:a="http://schemas.openxmlformats.org/drawingml/2006/main">
              <a:ext uri="{FF2B5EF4-FFF2-40B4-BE49-F238E27FC236}">
                <a16:creationId xmlns:a16="http://schemas.microsoft.com/office/drawing/2014/main" id="{07E13918-C83B-48E1-8B5B-1D5D8A6A217A}"/>
              </a:ext>
            </a:extLst>
          </p:cNvPr>
          <p:cNvGraphicFramePr/>
          <p:nvPr/>
        </p:nvGraphicFramePr>
        <p:xfrm>
          <a:off xmlns:a="http://schemas.openxmlformats.org/drawingml/2006/main" x="609600" y="1790700"/>
          <a:ext xmlns:a="http://schemas.openxmlformats.org/drawingml/2006/main" cx="10972800" cy="3333750"/>
        </p:xfrm>
        <a:graphic xmlns:a="http://schemas.openxmlformats.org/drawingml/2006/main">
          <a:graphicData uri="http://schemas.openxmlformats.org/drawingml/2006/table">
            <a:tbl>
              <a:tblPr/>
              <a:tblGrid>
                <a:gridCol w="1333500"/>
                <a:gridCol w="4667250"/>
                <a:gridCol w="4972050"/>
              </a:tblGrid>
              <a:tr h="666750">
                <a:tc>
                  <a:txBody>
                    <a:bodyPr/>
                    <a:lstStyle/>
                    <a:p>
                      <a:r>
                        <a:rPr sz="1800" b="1">
                          <a:solidFill>
                            <a:srgbClr val="FFFFFF"/>
                          </a:solidFill>
                          <a:latin typeface="Aptos"/>
                          <a:ea typeface="Aptos"/>
                          <a:cs typeface="Aptos"/>
                        </a:rPr>
                        <a:t>Thứ tự</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Công việc</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Điều kiện hoàn tất</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66750">
                <a:tc>
                  <a:txBody>
                    <a:bodyPr/>
                    <a:lstStyle/>
                    <a:p>
                      <a:r>
                        <a:rPr sz="1800" b="0">
                          <a:solidFill>
                            <a:srgbClr val="102B40"/>
                          </a:solidFill>
                          <a:latin typeface="Aptos"/>
                          <a:ea typeface="Aptos"/>
                          <a:cs typeface="Aptos"/>
                        </a:rPr>
                        <a:t>1</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Dispatcher và gói toàn mix</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Byte đúng, decode offline toàn tập</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00" b="0">
                          <a:solidFill>
                            <a:srgbClr val="102B40"/>
                          </a:solidFill>
                          <a:latin typeface="Aptos"/>
                          <a:ea typeface="Aptos"/>
                          <a:cs typeface="Aptos"/>
                        </a:rPr>
                        <a:t>2</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Benchmark L4 và chấm mù</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Wall time, parity, preference</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66750">
                <a:tc>
                  <a:txBody>
                    <a:bodyPr/>
                    <a:lstStyle/>
                    <a:p>
                      <a:r>
                        <a:rPr sz="1800" b="0">
                          <a:solidFill>
                            <a:srgbClr val="102B40"/>
                          </a:solidFill>
                          <a:latin typeface="Aptos"/>
                          <a:ea typeface="Aptos"/>
                          <a:cs typeface="Aptos"/>
                        </a:rPr>
                        <a:t>3</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Ablation A và B</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So cùng protocol, có holdout</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66750">
                <a:tc>
                  <a:txBody>
                    <a:bodyPr/>
                    <a:lstStyle/>
                    <a:p>
                      <a:r>
                        <a:rPr sz="1800" b="0">
                          <a:solidFill>
                            <a:srgbClr val="102B40"/>
                          </a:solidFill>
                          <a:latin typeface="Aptos"/>
                          <a:ea typeface="Aptos"/>
                          <a:cs typeface="Aptos"/>
                        </a:rPr>
                        <a:t>4</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Khóa cấu hình finalist</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Đủ ba rate, gói hợp lệ, hash cố định</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bl>
          </a:graphicData>
        </a:graphic>
      </p:graphicFrame>
      <p:sp>
        <p:nvSpPr>
          <p:cNvPr id="4" name="">
            <a:extLst xmlns:a="http://schemas.openxmlformats.org/drawingml/2006/main">
              <a:ext uri="{FF2B5EF4-FFF2-40B4-BE49-F238E27FC236}">
                <a16:creationId xmlns:a16="http://schemas.microsoft.com/office/drawing/2014/main" id="{A3823397-0133-4FC6-893E-D51246BDC0A2}"/>
              </a:ext>
            </a:extLst>
          </p:cNvPr>
          <p:cNvSpPr>
            <a:spLocks xmlns:a="http://schemas.openxmlformats.org/drawingml/2006/main" noGrp="1"/>
          </p:cNvSpPr>
          <p:nvPr/>
        </p:nvSpPr>
        <p:spPr>
          <a:xfrm xmlns:a="http://schemas.openxmlformats.org/drawingml/2006/main">
            <a:off x="609600" y="5857875"/>
            <a:ext cx="10839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A79"/>
                </a:solidFill>
                <a:latin typeface="Aptos"/>
                <a:ea typeface="Aptos"/>
                <a:cs typeface="Aptos"/>
              </a:defRPr>
            </a:defPPr>
          </a:lstStyle>
          <a:p xmlns:a="http://schemas.openxmlformats.org/drawingml/2006/main">
            <a:pPr>
              <a:defRPr sz="1575" b="0">
                <a:solidFill>
                  <a:srgbClr val="536A79"/>
                </a:solidFill>
                <a:latin typeface="Aptos"/>
                <a:ea typeface="Aptos"/>
                <a:cs typeface="Aptos"/>
              </a:defRPr>
            </a:pPr>
            <a:r>
              <a:rPr sz="1575" b="0">
                <a:solidFill>
                  <a:srgbClr val="536A79"/>
                </a:solidFill>
                <a:latin typeface="Aptos"/>
                <a:ea typeface="Aptos"/>
                <a:cs typeface="Aptos"/>
              </a:rPr>
              <a:t>Phụ thuộc cần bố trí: quyền truy cập máy L4 để kiểm đúng môi trường đích.</a:t>
            </a:r>
          </a:p>
        </p:txBody>
      </p:sp>
    </p:spTree>
    <p:extLst>
      <p:ext uri="{BB962C8B-B14F-4D97-AF65-F5344CB8AC3E}">
        <p14:creationId xmlns:p14="http://schemas.microsoft.com/office/powerpoint/2010/main" val="1552230791"/>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FADBA1-EB6D-4C75-9F73-648610EA92A3}"/>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Nội dung cần trao đổi</a:t>
            </a:r>
          </a:p>
        </p:txBody>
      </p:sp>
      <p:sp>
        <p:nvSpPr>
          <p:cNvPr id="2" name="">
            <a:extLst xmlns:a="http://schemas.openxmlformats.org/drawingml/2006/main">
              <a:ext uri="{FF2B5EF4-FFF2-40B4-BE49-F238E27FC236}">
                <a16:creationId xmlns:a16="http://schemas.microsoft.com/office/drawing/2014/main" id="{81FC3B54-FB87-446E-B560-91D18D9BB27A}"/>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38</a:t>
            </a:r>
          </a:p>
        </p:txBody>
      </p:sp>
      <p:sp>
        <p:nvSpPr>
          <p:cNvPr id="3" name="">
            <a:extLst xmlns:a="http://schemas.openxmlformats.org/drawingml/2006/main">
              <a:ext uri="{FF2B5EF4-FFF2-40B4-BE49-F238E27FC236}">
                <a16:creationId xmlns:a16="http://schemas.microsoft.com/office/drawing/2014/main" id="{1BB87C60-D2E7-46EE-BA5E-098204383E52}"/>
              </a:ext>
            </a:extLst>
          </p:cNvPr>
          <p:cNvSpPr>
            <a:spLocks xmlns:a="http://schemas.openxmlformats.org/drawingml/2006/main" noGrp="1"/>
          </p:cNvSpPr>
          <p:nvPr/>
        </p:nvSpPr>
        <p:spPr>
          <a:xfrm xmlns:a="http://schemas.openxmlformats.org/drawingml/2006/main">
            <a:off x="609600" y="1857375"/>
            <a:ext cx="10668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B40"/>
                </a:solidFill>
                <a:latin typeface="Aptos"/>
                <a:ea typeface="Aptos"/>
                <a:cs typeface="Aptos"/>
              </a:defRPr>
            </a:defPPr>
          </a:lstStyle>
          <a:p xmlns:a="http://schemas.openxmlformats.org/drawingml/2006/main">
            <a:pPr>
              <a:defRPr sz="2325" b="0">
                <a:solidFill>
                  <a:srgbClr val="102B40"/>
                </a:solidFill>
                <a:latin typeface="Aptos"/>
                <a:ea typeface="Aptos"/>
                <a:cs typeface="Aptos"/>
              </a:defRPr>
            </a:pPr>
            <a:r>
              <a:rPr sz="2325" b="0">
                <a:solidFill>
                  <a:srgbClr val="102B40"/>
                </a:solidFill>
                <a:latin typeface="Aptos"/>
                <a:ea typeface="Aptos"/>
                <a:cs typeface="Aptos"/>
              </a:rPr>
              <a:t>Trọng tâm khoa học: bộ chọn có chi phí load hay distillation rate thấp?</a:t>
            </a:r>
          </a:p>
        </p:txBody>
      </p:sp>
      <p:sp>
        <p:nvSpPr>
          <p:cNvPr id="4" name="">
            <a:extLst xmlns:a="http://schemas.openxmlformats.org/drawingml/2006/main">
              <a:ext uri="{FF2B5EF4-FFF2-40B4-BE49-F238E27FC236}">
                <a16:creationId xmlns:a16="http://schemas.microsoft.com/office/drawing/2014/main" id="{84B2A30A-B791-4EFC-8EE5-B3F0E15A150E}"/>
              </a:ext>
            </a:extLst>
          </p:cNvPr>
          <p:cNvSpPr>
            <a:spLocks xmlns:a="http://schemas.openxmlformats.org/drawingml/2006/main" noGrp="1"/>
          </p:cNvSpPr>
          <p:nvPr/>
        </p:nvSpPr>
        <p:spPr>
          <a:xfrm xmlns:a="http://schemas.openxmlformats.org/drawingml/2006/main">
            <a:off x="609600" y="3114675"/>
            <a:ext cx="10668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B40"/>
                </a:solidFill>
                <a:latin typeface="Aptos"/>
                <a:ea typeface="Aptos"/>
                <a:cs typeface="Aptos"/>
              </a:defRPr>
            </a:defPPr>
          </a:lstStyle>
          <a:p xmlns:a="http://schemas.openxmlformats.org/drawingml/2006/main">
            <a:pPr>
              <a:defRPr sz="2325" b="0">
                <a:solidFill>
                  <a:srgbClr val="102B40"/>
                </a:solidFill>
                <a:latin typeface="Aptos"/>
                <a:ea typeface="Aptos"/>
                <a:cs typeface="Aptos"/>
              </a:defRPr>
            </a:pPr>
            <a:r>
              <a:rPr sz="2325" b="0">
                <a:solidFill>
                  <a:srgbClr val="102B40"/>
                </a:solidFill>
                <a:latin typeface="Aptos"/>
                <a:ea typeface="Aptos"/>
                <a:cs typeface="Aptos"/>
              </a:rPr>
              <a:t>Thiết kế holdout và chấm mù nào đủ mạnh để xác nhận cải thiện?</a:t>
            </a:r>
          </a:p>
        </p:txBody>
      </p:sp>
      <p:sp>
        <p:nvSpPr>
          <p:cNvPr id="5" name="">
            <a:extLst xmlns:a="http://schemas.openxmlformats.org/drawingml/2006/main">
              <a:ext uri="{FF2B5EF4-FFF2-40B4-BE49-F238E27FC236}">
                <a16:creationId xmlns:a16="http://schemas.microsoft.com/office/drawing/2014/main" id="{2206A8DA-54D3-4362-ABE1-7E371B3CA1C8}"/>
              </a:ext>
            </a:extLst>
          </p:cNvPr>
          <p:cNvSpPr>
            <a:spLocks xmlns:a="http://schemas.openxmlformats.org/drawingml/2006/main" noGrp="1"/>
          </p:cNvSpPr>
          <p:nvPr/>
        </p:nvSpPr>
        <p:spPr>
          <a:xfrm xmlns:a="http://schemas.openxmlformats.org/drawingml/2006/main">
            <a:off x="609600" y="4371975"/>
            <a:ext cx="10668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0">
                <a:solidFill>
                  <a:srgbClr val="102B40"/>
                </a:solidFill>
                <a:latin typeface="Aptos"/>
                <a:ea typeface="Aptos"/>
                <a:cs typeface="Aptos"/>
              </a:defRPr>
            </a:defPPr>
          </a:lstStyle>
          <a:p xmlns:a="http://schemas.openxmlformats.org/drawingml/2006/main">
            <a:pPr>
              <a:defRPr sz="2325" b="0">
                <a:solidFill>
                  <a:srgbClr val="102B40"/>
                </a:solidFill>
                <a:latin typeface="Aptos"/>
                <a:ea typeface="Aptos"/>
                <a:cs typeface="Aptos"/>
              </a:defRPr>
            </a:pPr>
            <a:r>
              <a:rPr sz="2325" b="0">
                <a:solidFill>
                  <a:srgbClr val="102B40"/>
                </a:solidFill>
                <a:latin typeface="Aptos"/>
                <a:ea typeface="Aptos"/>
                <a:cs typeface="Aptos"/>
              </a:rPr>
              <a:t>Khi nào có thể dùng L4 để khóa quyết định teacher / student / mix?</a:t>
            </a:r>
          </a:p>
        </p:txBody>
      </p:sp>
    </p:spTree>
    <p:extLst>
      <p:ext uri="{BB962C8B-B14F-4D97-AF65-F5344CB8AC3E}">
        <p14:creationId xmlns:p14="http://schemas.microsoft.com/office/powerpoint/2010/main" val="44707543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35062D6-F5A5-40F1-9F4F-DC2A22D399E8}"/>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Tài liệu phương pháp</a:t>
            </a:r>
          </a:p>
        </p:txBody>
      </p:sp>
      <p:sp>
        <p:nvSpPr>
          <p:cNvPr id="2" name="">
            <a:extLst xmlns:a="http://schemas.openxmlformats.org/drawingml/2006/main">
              <a:ext uri="{FF2B5EF4-FFF2-40B4-BE49-F238E27FC236}">
                <a16:creationId xmlns:a16="http://schemas.microsoft.com/office/drawing/2014/main" id="{60B5471C-A8C8-41EB-9154-1354454E3233}"/>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39</a:t>
            </a:r>
          </a:p>
        </p:txBody>
      </p:sp>
      <p:graphicFrame>
        <p:nvGraphicFramePr>
          <p:cNvPr id="3" name="">
            <a:extLst xmlns:a="http://schemas.openxmlformats.org/drawingml/2006/main">
              <a:ext uri="{FF2B5EF4-FFF2-40B4-BE49-F238E27FC236}">
                <a16:creationId xmlns:a16="http://schemas.microsoft.com/office/drawing/2014/main" id="{C252D18B-E401-4B59-B629-C890DD4BBD4C}"/>
              </a:ext>
            </a:extLst>
          </p:cNvPr>
          <p:cNvGraphicFramePr/>
          <p:nvPr/>
        </p:nvGraphicFramePr>
        <p:xfrm>
          <a:off xmlns:a="http://schemas.openxmlformats.org/drawingml/2006/main" x="609600" y="1790700"/>
          <a:ext xmlns:a="http://schemas.openxmlformats.org/drawingml/2006/main" cx="10972800" cy="3714750"/>
        </p:xfrm>
        <a:graphic xmlns:a="http://schemas.openxmlformats.org/drawingml/2006/main">
          <a:graphicData uri="http://schemas.openxmlformats.org/drawingml/2006/table">
            <a:tbl>
              <a:tblPr/>
              <a:tblGrid>
                <a:gridCol w="5524500"/>
                <a:gridCol w="5448300"/>
              </a:tblGrid>
              <a:tr h="619125">
                <a:tc>
                  <a:txBody>
                    <a:bodyPr/>
                    <a:lstStyle/>
                    <a:p>
                      <a:r>
                        <a:rPr sz="1800" b="1">
                          <a:solidFill>
                            <a:srgbClr val="FFFFFF"/>
                          </a:solidFill>
                          <a:latin typeface="Aptos"/>
                          <a:ea typeface="Aptos"/>
                          <a:cs typeface="Aptos"/>
                        </a:rPr>
                        <a:t>Phương pháp</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Nguồn</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19125">
                <a:tc>
                  <a:txBody>
                    <a:bodyPr/>
                    <a:lstStyle/>
                    <a:p>
                      <a:r>
                        <a:rPr sz="1800" b="0">
                          <a:solidFill>
                            <a:srgbClr val="102B40"/>
                          </a:solidFill>
                          <a:latin typeface="Aptos"/>
                          <a:ea typeface="Aptos"/>
                          <a:cs typeface="Aptos"/>
                        </a:rPr>
                        <a:t>Mean-scale / autoregressive hyperprior</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Minnen et al., NeurIPS 2018</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00" b="0">
                          <a:solidFill>
                            <a:srgbClr val="102B40"/>
                          </a:solidFill>
                          <a:latin typeface="Aptos"/>
                          <a:ea typeface="Aptos"/>
                          <a:cs typeface="Aptos"/>
                        </a:rPr>
                        <a:t>MS-ILLM</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Muckley et al., ICML 2023</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00" b="0">
                          <a:solidFill>
                            <a:srgbClr val="102B40"/>
                          </a:solidFill>
                          <a:latin typeface="Aptos"/>
                          <a:ea typeface="Aptos"/>
                          <a:cs typeface="Aptos"/>
                        </a:rPr>
                        <a:t>DiT-IC</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Shi et al., CVPR 2026</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00" b="0">
                          <a:solidFill>
                            <a:srgbClr val="102B40"/>
                          </a:solidFill>
                          <a:latin typeface="Aptos"/>
                          <a:ea typeface="Aptos"/>
                          <a:cs typeface="Aptos"/>
                        </a:rPr>
                        <a:t>DC-AE / SANA</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arXiv 2410.10733 / 2410.10629</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00" b="0">
                          <a:solidFill>
                            <a:srgbClr val="102B40"/>
                          </a:solidFill>
                          <a:latin typeface="Aptos"/>
                          <a:ea typeface="Aptos"/>
                          <a:cs typeface="Aptos"/>
                        </a:rPr>
                        <a:t>PULSE / CoD-Lite</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arXiv 2609.18602 / 2604.12525</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bl>
          </a:graphicData>
        </a:graphic>
      </p:graphicFrame>
    </p:spTree>
    <p:extLst>
      <p:ext uri="{BB962C8B-B14F-4D97-AF65-F5344CB8AC3E}">
        <p14:creationId xmlns:p14="http://schemas.microsoft.com/office/powerpoint/2010/main" val="17493647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65DBB25-3401-4A1D-8B39-E69EECA2563C}"/>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300" b="1">
                <a:solidFill>
                  <a:srgbClr val="102B40"/>
                </a:solidFill>
                <a:latin typeface="Aptos"/>
                <a:ea typeface="Aptos"/>
                <a:cs typeface="Aptos"/>
              </a:defRPr>
            </a:defPPr>
          </a:lstStyle>
          <a:p xmlns:a="http://schemas.openxmlformats.org/drawingml/2006/main">
            <a:pPr>
              <a:defRPr sz="3300" b="1">
                <a:solidFill>
                  <a:srgbClr val="102B40"/>
                </a:solidFill>
                <a:latin typeface="Aptos"/>
                <a:ea typeface="Aptos"/>
                <a:cs typeface="Aptos"/>
              </a:defRPr>
            </a:pPr>
            <a:r>
              <a:rPr sz="3300" b="1">
                <a:solidFill>
                  <a:srgbClr val="102B40"/>
                </a:solidFill>
                <a:latin typeface="Aptos"/>
                <a:ea typeface="Aptos"/>
                <a:cs typeface="Aptos"/>
              </a:rPr>
              <a:t>Tài liệu và artifact bổ sung</a:t>
            </a:r>
          </a:p>
        </p:txBody>
      </p:sp>
      <p:sp>
        <p:nvSpPr>
          <p:cNvPr id="2" name="">
            <a:extLst xmlns:a="http://schemas.openxmlformats.org/drawingml/2006/main">
              <a:ext uri="{FF2B5EF4-FFF2-40B4-BE49-F238E27FC236}">
                <a16:creationId xmlns:a16="http://schemas.microsoft.com/office/drawing/2014/main" id="{202834B9-1BD6-45AD-A99B-A29374B900C5}"/>
              </a:ext>
            </a:extLst>
          </p:cNvPr>
          <p:cNvSpPr>
            <a:spLocks xmlns:a="http://schemas.openxmlformats.org/drawingml/2006/main" noGrp="1"/>
          </p:cNvSpPr>
          <p:nvPr/>
        </p:nvSpPr>
        <p:spPr>
          <a:xfrm xmlns:a="http://schemas.openxmlformats.org/drawingml/2006/main">
            <a:off x="11087100" y="63817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75" b="0">
                <a:solidFill>
                  <a:srgbClr val="536A79"/>
                </a:solidFill>
                <a:latin typeface="Aptos"/>
                <a:ea typeface="Aptos"/>
                <a:cs typeface="Aptos"/>
              </a:defRPr>
            </a:defPPr>
          </a:lstStyle>
          <a:p xmlns:a="http://schemas.openxmlformats.org/drawingml/2006/main">
            <a:pPr>
              <a:defRPr sz="1275" b="0">
                <a:solidFill>
                  <a:srgbClr val="536A79"/>
                </a:solidFill>
                <a:latin typeface="Aptos"/>
                <a:ea typeface="Aptos"/>
                <a:cs typeface="Aptos"/>
              </a:defRPr>
            </a:pPr>
            <a:r>
              <a:rPr sz="1275" b="0">
                <a:solidFill>
                  <a:srgbClr val="536A79"/>
                </a:solidFill>
                <a:latin typeface="Aptos"/>
                <a:ea typeface="Aptos"/>
                <a:cs typeface="Aptos"/>
              </a:rPr>
              <a:t>40</a:t>
            </a:r>
          </a:p>
        </p:txBody>
      </p:sp>
      <p:graphicFrame>
        <p:nvGraphicFramePr>
          <p:cNvPr id="3" name="">
            <a:extLst xmlns:a="http://schemas.openxmlformats.org/drawingml/2006/main">
              <a:ext uri="{FF2B5EF4-FFF2-40B4-BE49-F238E27FC236}">
                <a16:creationId xmlns:a16="http://schemas.microsoft.com/office/drawing/2014/main" id="{F4DDB5D1-D9B9-4FA0-BD8B-72679DA2BB62}"/>
              </a:ext>
            </a:extLst>
          </p:cNvPr>
          <p:cNvGraphicFramePr/>
          <p:nvPr/>
        </p:nvGraphicFramePr>
        <p:xfrm>
          <a:off xmlns:a="http://schemas.openxmlformats.org/drawingml/2006/main" x="609600" y="1790700"/>
          <a:ext xmlns:a="http://schemas.openxmlformats.org/drawingml/2006/main" cx="10972800" cy="3714750"/>
        </p:xfrm>
        <a:graphic xmlns:a="http://schemas.openxmlformats.org/drawingml/2006/main">
          <a:graphicData uri="http://schemas.openxmlformats.org/drawingml/2006/table">
            <a:tbl>
              <a:tblPr/>
              <a:tblGrid>
                <a:gridCol w="5000625"/>
                <a:gridCol w="5972175"/>
              </a:tblGrid>
              <a:tr h="619125">
                <a:tc>
                  <a:txBody>
                    <a:bodyPr/>
                    <a:lstStyle/>
                    <a:p>
                      <a:r>
                        <a:rPr sz="1800" b="1">
                          <a:solidFill>
                            <a:srgbClr val="FFFFFF"/>
                          </a:solidFill>
                          <a:latin typeface="Aptos"/>
                          <a:ea typeface="Aptos"/>
                          <a:cs typeface="Aptos"/>
                        </a:rPr>
                        <a:t>Phương pháp / bằng chứng</a:t>
                      </a:r>
                    </a:p>
                  </a:txBody>
                  <a:tcPr marL="133350" marR="133350" marT="114300" marB="95250" anchor="ctr">
                    <a:lnL w="9525">
                      <a:solidFill>
                        <a:srgbClr val="D6E2E7"/>
                      </a:solidFill>
                      <a:prstDash val="solid"/>
                    </a:lnL>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c>
                  <a:txBody>
                    <a:bodyPr/>
                    <a:lstStyle/>
                    <a:p>
                      <a:r>
                        <a:rPr sz="1800" b="1">
                          <a:solidFill>
                            <a:srgbClr val="FFFFFF"/>
                          </a:solidFill>
                          <a:latin typeface="Aptos"/>
                          <a:ea typeface="Aptos"/>
                          <a:cs typeface="Aptos"/>
                        </a:rPr>
                        <a:t>Nguồn</a:t>
                      </a:r>
                    </a:p>
                  </a:txBody>
                  <a:tcPr marL="133350" marR="133350" marT="114300" marB="95250" anchor="ctr">
                    <a:lnR w="9525">
                      <a:solidFill>
                        <a:srgbClr val="D6E2E7"/>
                      </a:solidFill>
                      <a:prstDash val="solid"/>
                    </a:lnR>
                    <a:lnT w="9525">
                      <a:solidFill>
                        <a:srgbClr val="D6E2E7"/>
                      </a:solidFill>
                      <a:prstDash val="solid"/>
                    </a:lnT>
                    <a:lnB w="9525">
                      <a:solidFill>
                        <a:srgbClr val="D6E2E7"/>
                      </a:solidFill>
                      <a:prstDash val="solid"/>
                    </a:lnB>
                    <a:solidFill>
                      <a:srgbClr val="102B40"/>
                    </a:solidFill>
                  </a:tcPr>
                </a:tc>
              </a:tr>
              <a:tr h="619125">
                <a:tc>
                  <a:txBody>
                    <a:bodyPr/>
                    <a:lstStyle/>
                    <a:p>
                      <a:r>
                        <a:rPr sz="1800" b="0">
                          <a:solidFill>
                            <a:srgbClr val="102B40"/>
                          </a:solidFill>
                          <a:latin typeface="Aptos"/>
                          <a:ea typeface="Aptos"/>
                          <a:cs typeface="Aptos"/>
                        </a:rPr>
                        <a:t>DC-VIC / AFP-GIC</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IEEE Access 2024 / arXiv 2605.16817v2</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00" b="0">
                          <a:solidFill>
                            <a:srgbClr val="102B40"/>
                          </a:solidFill>
                          <a:latin typeface="Aptos"/>
                          <a:ea typeface="Aptos"/>
                          <a:cs typeface="Aptos"/>
                        </a:rPr>
                        <a:t>CRDR / Cool-Chic</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WACV 2024 / ICCV 2023</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00" b="0">
                          <a:solidFill>
                            <a:srgbClr val="102B40"/>
                          </a:solidFill>
                          <a:latin typeface="Aptos"/>
                          <a:ea typeface="Aptos"/>
                          <a:cs typeface="Aptos"/>
                        </a:rPr>
                        <a:t>VVC / SD-Turbo</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TCSVT 2021 / ADD 2023</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r h="619125">
                <a:tc>
                  <a:txBody>
                    <a:bodyPr/>
                    <a:lstStyle/>
                    <a:p>
                      <a:r>
                        <a:rPr sz="1800" b="0">
                          <a:solidFill>
                            <a:srgbClr val="102B40"/>
                          </a:solidFill>
                          <a:latin typeface="Aptos"/>
                          <a:ea typeface="Aptos"/>
                          <a:cs typeface="Aptos"/>
                        </a:rPr>
                        <a:t>Số liệu của dự án</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EAF2F4"/>
                    </a:solidFill>
                  </a:tcPr>
                </a:tc>
                <a:tc>
                  <a:txBody>
                    <a:bodyPr/>
                    <a:lstStyle/>
                    <a:p>
                      <a:r>
                        <a:rPr sz="1800" b="0">
                          <a:solidFill>
                            <a:srgbClr val="102B40"/>
                          </a:solidFill>
                          <a:latin typeface="Aptos"/>
                          <a:ea typeface="Aptos"/>
                          <a:cs typeface="Aptos"/>
                        </a:rPr>
                        <a:t>Report và artifact snapshot 15/10/2026</a:t>
                      </a:r>
                    </a:p>
                  </a:txBody>
                  <a:tcPr marL="133350" marR="133350" marT="114300" marB="95250" anchor="ctr">
                    <a:lnR w="9525">
                      <a:solidFill>
                        <a:srgbClr val="D6E2E7"/>
                      </a:solidFill>
                      <a:prstDash val="solid"/>
                    </a:lnR>
                    <a:lnB w="9525">
                      <a:solidFill>
                        <a:srgbClr val="D6E2E7"/>
                      </a:solidFill>
                      <a:prstDash val="solid"/>
                    </a:lnB>
                    <a:solidFill>
                      <a:srgbClr val="EAF2F4"/>
                    </a:solidFill>
                  </a:tcPr>
                </a:tc>
              </a:tr>
              <a:tr h="619125">
                <a:tc>
                  <a:txBody>
                    <a:bodyPr/>
                    <a:lstStyle/>
                    <a:p>
                      <a:r>
                        <a:rPr sz="1800" b="0">
                          <a:solidFill>
                            <a:srgbClr val="102B40"/>
                          </a:solidFill>
                          <a:latin typeface="Aptos"/>
                          <a:ea typeface="Aptos"/>
                          <a:cs typeface="Aptos"/>
                        </a:rPr>
                        <a:t>Quy định thi</a:t>
                      </a:r>
                    </a:p>
                  </a:txBody>
                  <a:tcPr marL="133350" marR="133350" marT="114300" marB="95250" anchor="ctr">
                    <a:lnL w="9525">
                      <a:solidFill>
                        <a:srgbClr val="D6E2E7"/>
                      </a:solidFill>
                      <a:prstDash val="solid"/>
                    </a:lnL>
                    <a:lnR w="9525">
                      <a:solidFill>
                        <a:srgbClr val="D6E2E7"/>
                      </a:solidFill>
                      <a:prstDash val="solid"/>
                    </a:lnR>
                    <a:lnB w="9525">
                      <a:solidFill>
                        <a:srgbClr val="D6E2E7"/>
                      </a:solidFill>
                      <a:prstDash val="solid"/>
                    </a:lnB>
                    <a:solidFill>
                      <a:srgbClr val="FFFFFF"/>
                    </a:solidFill>
                  </a:tcPr>
                </a:tc>
                <a:tc>
                  <a:txBody>
                    <a:bodyPr/>
                    <a:lstStyle/>
                    <a:p>
                      <a:r>
                        <a:rPr sz="1800" b="0">
                          <a:solidFill>
                            <a:srgbClr val="102B40"/>
                          </a:solidFill>
                          <a:latin typeface="Aptos"/>
                          <a:ea typeface="Aptos"/>
                          <a:cs typeface="Aptos"/>
                        </a:rPr>
                        <a:t>Trang tasks chính thức CLIC 2027</a:t>
                      </a:r>
                    </a:p>
                  </a:txBody>
                  <a:tcPr marL="133350" marR="133350" marT="114300" marB="95250" anchor="ctr">
                    <a:lnR w="9525">
                      <a:solidFill>
                        <a:srgbClr val="D6E2E7"/>
                      </a:solidFill>
                      <a:prstDash val="solid"/>
                    </a:lnR>
                    <a:lnB w="9525">
                      <a:solidFill>
                        <a:srgbClr val="D6E2E7"/>
                      </a:solidFill>
                      <a:prstDash val="solid"/>
                    </a:lnB>
                    <a:solidFill>
                      <a:srgbClr val="FFFFFF"/>
                    </a:solidFill>
                  </a:tcPr>
                </a:tc>
              </a:tr>
            </a:tbl>
          </a:graphicData>
        </a:graphic>
      </p:graphicFrame>
    </p:spTree>
    <p:extLst>
      <p:ext uri="{BB962C8B-B14F-4D97-AF65-F5344CB8AC3E}">
        <p14:creationId xmlns:p14="http://schemas.microsoft.com/office/powerpoint/2010/main" val="20437483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2026-10-15T16:15:16.9390000Z</dcterms:created>
  <dcterms:modified xsi:type="dcterms:W3CDTF">2026-10-15T16:15:16.9390000Z</dcterms:modified>
</coreProperties>
</file>